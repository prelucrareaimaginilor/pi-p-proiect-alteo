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64" r:id="rId8"/>
    <p:sldId id="265" r:id="rId9"/>
    <p:sldId id="259" r:id="rId10"/>
    <p:sldId id="267" r:id="rId11"/>
    <p:sldId id="266" r:id="rId12"/>
    <p:sldId id="260" r:id="rId13"/>
    <p:sldId id="261" r:id="rId14"/>
    <p:sldId id="262" r:id="rId15"/>
  </p:sldIdLst>
  <p:sldSz cx="18288000" cy="10287000"/>
  <p:notesSz cx="7559675" cy="10691813"/>
  <p:embeddedFontLst>
    <p:embeddedFont>
      <p:font typeface="Space Mono" panose="020B0604020202020204" charset="0"/>
      <p:regular r:id="rId17"/>
      <p:bold r:id="rId18"/>
      <p: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F65FF2-BB3D-4D8C-9239-5326405C6027}" v="15" dt="2025-11-20T14:47:59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41" autoAdjust="0"/>
  </p:normalViewPr>
  <p:slideViewPr>
    <p:cSldViewPr snapToGrid="0">
      <p:cViewPr varScale="1">
        <p:scale>
          <a:sx n="52" d="100"/>
          <a:sy n="52" d="100"/>
        </p:scale>
        <p:origin x="850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8B615-7EAA-48CA-8632-741AAAE3B8D3}" type="datetimeFigureOut">
              <a:rPr lang="ro-RO" smtClean="0"/>
              <a:t>20.11.2025</a:t>
            </a:fld>
            <a:endParaRPr lang="ro-RO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4CB52-14BD-4453-AC3E-70D85012EFD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55272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4CB52-14BD-4453-AC3E-70D85012EFDD}" type="slidenum">
              <a:rPr lang="ro-RO" smtClean="0"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94184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7D140-43E6-D365-CF0C-0B129FB8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>
            <a:extLst>
              <a:ext uri="{FF2B5EF4-FFF2-40B4-BE49-F238E27FC236}">
                <a16:creationId xmlns:a16="http://schemas.microsoft.com/office/drawing/2014/main" id="{E68B4060-F7D8-A095-6BD8-A58C8C34B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>
            <a:extLst>
              <a:ext uri="{FF2B5EF4-FFF2-40B4-BE49-F238E27FC236}">
                <a16:creationId xmlns:a16="http://schemas.microsoft.com/office/drawing/2014/main" id="{1FE73AB9-6434-0548-6E66-BA6E95C894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DF37894D-A41E-6192-6E29-5E828FA9D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4CB52-14BD-4453-AC3E-70D85012EFDD}" type="slidenum">
              <a:rPr lang="ro-RO" smtClean="0"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13069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CADE5E2-890F-45F7-971F-6CA9851577C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569C78-86FF-465B-A341-DBA0148C834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3476F95-2D64-40D8-A574-F6AD35D102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56F5A94-3ED3-442E-97C8-0F04869BC1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529BCF-3D53-426D-B3FC-4868BE0E80B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7A4E93-D3EC-4354-BED8-7A90B1C15D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125800C-CEA6-43EE-AB73-1D41287A62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DB8F2C-6144-4744-A91B-EDAA010C84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01DBBA-E4EB-4865-8BAD-E3330BBFBA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45B5FC-20DD-4FF4-B8DB-280BF61534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982716-73E8-4288-AFC8-64138397C1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3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jpg"/><Relationship Id="rId4" Type="http://schemas.openxmlformats.org/officeDocument/2006/relationships/image" Target="../media/image1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Freeform 2"/>
          <p:cNvSpPr/>
          <p:nvPr/>
        </p:nvSpPr>
        <p:spPr>
          <a:xfrm>
            <a:off x="-180" y="0"/>
            <a:ext cx="18287640" cy="10286640"/>
          </a:xfrm>
          <a:custGeom>
            <a:avLst/>
            <a:gdLst>
              <a:gd name="textAreaLeft" fmla="*/ 0 w 18287640"/>
              <a:gd name="textAreaRight" fmla="*/ 18288000 w 18287640"/>
              <a:gd name="textAreaTop" fmla="*/ 0 h 10286640"/>
              <a:gd name="textAreaBottom" fmla="*/ 10287000 h 10286640"/>
            </a:gdLst>
            <a:ahLst/>
            <a:cxnLst/>
            <a:rect l="textAreaLeft" t="textAreaTop" r="textAreaRight" b="textAreaBottom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Freeform 4"/>
          <p:cNvSpPr/>
          <p:nvPr/>
        </p:nvSpPr>
        <p:spPr>
          <a:xfrm>
            <a:off x="0" y="0"/>
            <a:ext cx="3524400" cy="1501200"/>
          </a:xfrm>
          <a:custGeom>
            <a:avLst/>
            <a:gdLst>
              <a:gd name="textAreaLeft" fmla="*/ 0 w 3524400"/>
              <a:gd name="textAreaRight" fmla="*/ 3524760 w 3524400"/>
              <a:gd name="textAreaTop" fmla="*/ 0 h 1501200"/>
              <a:gd name="textAreaBottom" fmla="*/ 1501560 h 1501200"/>
            </a:gdLst>
            <a:ahLst/>
            <a:cxnLst/>
            <a:rect l="textAreaLeft" t="textAreaTop" r="textAreaRight" b="textAreaBottom"/>
            <a:pathLst>
              <a:path w="3524878" h="1501584">
                <a:moveTo>
                  <a:pt x="0" y="0"/>
                </a:moveTo>
                <a:lnTo>
                  <a:pt x="3524878" y="0"/>
                </a:lnTo>
                <a:lnTo>
                  <a:pt x="3524878" y="1501584"/>
                </a:lnTo>
                <a:lnTo>
                  <a:pt x="0" y="150158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5"/>
          <p:cNvSpPr/>
          <p:nvPr/>
        </p:nvSpPr>
        <p:spPr>
          <a:xfrm>
            <a:off x="-13060" y="7256090"/>
            <a:ext cx="11322720" cy="19252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6000" dirty="0">
                <a:solidFill>
                  <a:schemeClr val="bg1"/>
                </a:solidFill>
              </a:rPr>
              <a:t>Predicția erupțiilor solare pe baza imaginilor AIA și HMI </a:t>
            </a:r>
            <a:endParaRPr lang="en-US" sz="5490" b="0" u="none" strike="noStrike" dirty="0">
              <a:solidFill>
                <a:schemeClr val="bg1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6"/>
          <p:cNvSpPr/>
          <p:nvPr/>
        </p:nvSpPr>
        <p:spPr>
          <a:xfrm>
            <a:off x="11202120" y="8500680"/>
            <a:ext cx="7085520" cy="1500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6009"/>
              </a:lnSpc>
            </a:pPr>
            <a:r>
              <a:rPr lang="ro-RO" sz="4290" b="1" u="none" strike="noStrike" dirty="0">
                <a:solidFill>
                  <a:srgbClr val="FFFFFF"/>
                </a:solidFill>
                <a:effectLst/>
                <a:uFillTx/>
                <a:latin typeface="Space Mono Bold"/>
                <a:ea typeface="Space Mono Bold"/>
              </a:rPr>
              <a:t>Marguta Dan-Alexandru</a:t>
            </a:r>
            <a:endParaRPr lang="en-US" sz="429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ts val="6009"/>
              </a:lnSpc>
            </a:pPr>
            <a:r>
              <a:rPr lang="ro-RO" sz="4290" b="1" u="none" strike="noStrike" dirty="0" err="1">
                <a:solidFill>
                  <a:srgbClr val="FFFFFF"/>
                </a:solidFill>
                <a:effectLst/>
                <a:uFillTx/>
                <a:latin typeface="Space Mono Bold"/>
                <a:ea typeface="Space Mono Bold"/>
              </a:rPr>
              <a:t>Aparaschivei</a:t>
            </a:r>
            <a:r>
              <a:rPr lang="ro-RO" sz="4290" b="1" u="none" strike="noStrike" dirty="0">
                <a:solidFill>
                  <a:srgbClr val="FFFFFF"/>
                </a:solidFill>
                <a:effectLst/>
                <a:uFillTx/>
                <a:latin typeface="Space Mono Bold"/>
                <a:ea typeface="Space Mono Bold"/>
              </a:rPr>
              <a:t> Teodor</a:t>
            </a:r>
            <a:endParaRPr lang="en-US" sz="429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16347C-FB51-6D64-B015-AE935DF5DC0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32042" y="-101600"/>
            <a:ext cx="2968298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5"/>
          <p:cNvSpPr/>
          <p:nvPr/>
        </p:nvSpPr>
        <p:spPr>
          <a:xfrm>
            <a:off x="0" y="1009800"/>
            <a:ext cx="1101132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 dirty="0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1. Context &amp; </a:t>
            </a:r>
            <a:r>
              <a:rPr lang="en-US" sz="6000" b="1" u="none" strike="noStrike" dirty="0" err="1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Motivație</a:t>
            </a: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571680" y="2242800"/>
            <a:ext cx="17203320" cy="71025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Context: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 In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proiect</a:t>
            </a:r>
            <a:r>
              <a:rPr lang="en-US" sz="3400" dirty="0">
                <a:solidFill>
                  <a:srgbClr val="000000"/>
                </a:solidFill>
                <a:latin typeface="Space Mono"/>
                <a:ea typeface="Space Mono"/>
              </a:rPr>
              <a:t> 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se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va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incerca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prezicererea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cat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mai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eficienta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a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eruptiilor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solare</a:t>
            </a:r>
            <a:r>
              <a:rPr lang="ro-RO" sz="3400" dirty="0">
                <a:solidFill>
                  <a:srgbClr val="000000"/>
                </a:solidFill>
                <a:latin typeface="Space Mono"/>
                <a:ea typeface="Space Mono"/>
              </a:rPr>
              <a:t>.</a:t>
            </a: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ro-RO" sz="3400" dirty="0">
              <a:solidFill>
                <a:srgbClr val="000000"/>
              </a:solidFill>
              <a:latin typeface="Space Mono"/>
              <a:ea typeface="Space Mono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Motivație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 Este un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subiect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important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deoarece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poate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afecta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atat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sanatatea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omului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cat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si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tehnologia</a:t>
            </a:r>
            <a:r>
              <a:rPr lang="en-US" sz="3400" dirty="0">
                <a:solidFill>
                  <a:srgbClr val="000000"/>
                </a:solidFill>
                <a:latin typeface="Space Mono"/>
                <a:ea typeface="Space Mono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"/>
                <a:ea typeface="Space Mono"/>
              </a:rPr>
              <a:t>atat</a:t>
            </a:r>
            <a:r>
              <a:rPr lang="en-US" sz="3400" dirty="0">
                <a:solidFill>
                  <a:srgbClr val="000000"/>
                </a:solidFill>
                <a:latin typeface="Space Mono"/>
                <a:ea typeface="Space Mono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"/>
                <a:ea typeface="Space Mono"/>
              </a:rPr>
              <a:t>satelitara</a:t>
            </a:r>
            <a:r>
              <a:rPr lang="en-US" sz="3400" dirty="0">
                <a:solidFill>
                  <a:srgbClr val="000000"/>
                </a:solidFill>
                <a:latin typeface="Space Mono"/>
                <a:ea typeface="Space Mono"/>
              </a:rPr>
              <a:t> cat </a:t>
            </a:r>
            <a:r>
              <a:rPr lang="en-US" sz="3400" dirty="0" err="1">
                <a:solidFill>
                  <a:srgbClr val="000000"/>
                </a:solidFill>
                <a:latin typeface="Space Mono"/>
                <a:ea typeface="Space Mono"/>
              </a:rPr>
              <a:t>si</a:t>
            </a:r>
            <a:r>
              <a:rPr lang="en-US" sz="3400" dirty="0">
                <a:solidFill>
                  <a:srgbClr val="000000"/>
                </a:solidFill>
                <a:latin typeface="Space Mono"/>
                <a:ea typeface="Space Mono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"/>
                <a:ea typeface="Space Mono"/>
              </a:rPr>
              <a:t>planetara</a:t>
            </a:r>
            <a:endParaRPr lang="en-US" sz="3400" dirty="0">
              <a:solidFill>
                <a:srgbClr val="000000"/>
              </a:solidFill>
              <a:latin typeface="Space Mono"/>
              <a:ea typeface="Space Mono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ro-RO" sz="3400" b="0" u="none" strike="noStrike" dirty="0">
              <a:solidFill>
                <a:srgbClr val="000000"/>
              </a:solidFill>
              <a:effectLst/>
              <a:uFillTx/>
              <a:latin typeface="Space Mono"/>
              <a:ea typeface="Space Mono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Obiectivul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proiectului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Scopul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general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este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de a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prezice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cat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mai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exact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timpul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pana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la o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astfel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de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eruptie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.</a:t>
            </a: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7"/>
          <p:cNvSpPr/>
          <p:nvPr/>
        </p:nvSpPr>
        <p:spPr>
          <a:xfrm>
            <a:off x="0" y="-44280"/>
            <a:ext cx="18287640" cy="8851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4400" b="1" dirty="0">
                <a:solidFill>
                  <a:schemeClr val="tx2"/>
                </a:solidFill>
              </a:rPr>
              <a:t>Predicția erupțiilor solare pe baza imaginilor AIA și HMI </a:t>
            </a:r>
            <a:endParaRPr lang="en-US" sz="4400" b="1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2295E6-A844-A718-723E-8DAAE46790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0" y="-44280"/>
            <a:ext cx="18287640" cy="8851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4400" b="1" dirty="0">
                <a:solidFill>
                  <a:schemeClr val="tx2"/>
                </a:solidFill>
              </a:rPr>
              <a:t>Predicția erupțiilor solare pe baza imaginilor AIA și HMI </a:t>
            </a:r>
            <a:endParaRPr lang="en-US" sz="4400" b="1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2. Arhitectura preliminară a soluției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571680" y="2242800"/>
            <a:ext cx="17203320" cy="71025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Schema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arhitecturii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</a:t>
            </a:r>
            <a:endParaRPr lang="ro-RO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ro-RO" sz="3400" b="1" dirty="0">
              <a:solidFill>
                <a:srgbClr val="000000"/>
              </a:solidFill>
              <a:latin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F5C0652-39B1-EDA4-88AC-C710045E76F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  <p:pic>
        <p:nvPicPr>
          <p:cNvPr id="6" name="Imagine 5">
            <a:extLst>
              <a:ext uri="{FF2B5EF4-FFF2-40B4-BE49-F238E27FC236}">
                <a16:creationId xmlns:a16="http://schemas.microsoft.com/office/drawing/2014/main" id="{D171C006-DBF3-AAAD-D035-8C74AC127C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546" y="3699584"/>
            <a:ext cx="13815908" cy="48085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6D755-3764-48E9-A6B7-FEFE38448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3">
            <a:extLst>
              <a:ext uri="{FF2B5EF4-FFF2-40B4-BE49-F238E27FC236}">
                <a16:creationId xmlns:a16="http://schemas.microsoft.com/office/drawing/2014/main" id="{F3C5353B-5D95-D94B-5BC7-672AD61F4B04}"/>
              </a:ext>
            </a:extLst>
          </p:cNvPr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>
            <a:extLst>
              <a:ext uri="{FF2B5EF4-FFF2-40B4-BE49-F238E27FC236}">
                <a16:creationId xmlns:a16="http://schemas.microsoft.com/office/drawing/2014/main" id="{1B553374-8FD7-5BF1-CB68-B1FFD7137CB0}"/>
              </a:ext>
            </a:extLst>
          </p:cNvPr>
          <p:cNvSpPr/>
          <p:nvPr/>
        </p:nvSpPr>
        <p:spPr>
          <a:xfrm>
            <a:off x="0" y="-44280"/>
            <a:ext cx="18287640" cy="8851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4400" b="1" dirty="0">
                <a:solidFill>
                  <a:schemeClr val="tx2"/>
                </a:solidFill>
              </a:rPr>
              <a:t>Predicția erupțiilor solare pe baza imaginilor AIA și HMI </a:t>
            </a:r>
            <a:endParaRPr lang="en-US" sz="4400" b="1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>
            <a:extLst>
              <a:ext uri="{FF2B5EF4-FFF2-40B4-BE49-F238E27FC236}">
                <a16:creationId xmlns:a16="http://schemas.microsoft.com/office/drawing/2014/main" id="{1FBDA290-CB0B-12CF-3933-ABC66B1975DA}"/>
              </a:ext>
            </a:extLst>
          </p:cNvPr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>
            <a:extLst>
              <a:ext uri="{FF2B5EF4-FFF2-40B4-BE49-F238E27FC236}">
                <a16:creationId xmlns:a16="http://schemas.microsoft.com/office/drawing/2014/main" id="{34FA307A-7891-DA73-51CF-3200CD37866C}"/>
              </a:ext>
            </a:extLst>
          </p:cNvPr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2. Arhitectura preliminară a soluției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762150A5-1B68-FA0A-E724-6559D9E0DA65}"/>
              </a:ext>
            </a:extLst>
          </p:cNvPr>
          <p:cNvSpPr/>
          <p:nvPr/>
        </p:nvSpPr>
        <p:spPr>
          <a:xfrm>
            <a:off x="571680" y="2242800"/>
            <a:ext cx="17203320" cy="71025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b="1" dirty="0" err="1">
                <a:solidFill>
                  <a:srgbClr val="000000"/>
                </a:solidFill>
                <a:latin typeface="Space Mono Bold"/>
                <a:ea typeface="Space Mono Bold"/>
              </a:rPr>
              <a:t>Preprocesare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</a:t>
            </a:r>
            <a:endParaRPr lang="ro-RO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ro-RO" sz="3400" b="1" dirty="0">
              <a:solidFill>
                <a:srgbClr val="000000"/>
              </a:solidFill>
              <a:latin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1663F72-E01E-ADA2-1698-9DF68F1118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2C7A79-08AF-F09C-46EF-F2EA5882FC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4100" y="2135713"/>
            <a:ext cx="8539440" cy="7380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03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958D-5F74-0453-A6FA-265B33D7B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3">
            <a:extLst>
              <a:ext uri="{FF2B5EF4-FFF2-40B4-BE49-F238E27FC236}">
                <a16:creationId xmlns:a16="http://schemas.microsoft.com/office/drawing/2014/main" id="{F7B7E28B-68AE-9456-1019-7E734684EB57}"/>
              </a:ext>
            </a:extLst>
          </p:cNvPr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>
            <a:extLst>
              <a:ext uri="{FF2B5EF4-FFF2-40B4-BE49-F238E27FC236}">
                <a16:creationId xmlns:a16="http://schemas.microsoft.com/office/drawing/2014/main" id="{22440073-72C0-C807-90B8-BDDAFC69F893}"/>
              </a:ext>
            </a:extLst>
          </p:cNvPr>
          <p:cNvSpPr/>
          <p:nvPr/>
        </p:nvSpPr>
        <p:spPr>
          <a:xfrm>
            <a:off x="0" y="-44280"/>
            <a:ext cx="18287640" cy="8851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4400" b="1" dirty="0">
                <a:solidFill>
                  <a:schemeClr val="tx2"/>
                </a:solidFill>
              </a:rPr>
              <a:t>Predicția erupțiilor solare pe baza imaginilor AIA și HMI </a:t>
            </a:r>
            <a:endParaRPr lang="en-US" sz="4400" b="1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>
            <a:extLst>
              <a:ext uri="{FF2B5EF4-FFF2-40B4-BE49-F238E27FC236}">
                <a16:creationId xmlns:a16="http://schemas.microsoft.com/office/drawing/2014/main" id="{84E1B642-8391-FA57-C176-3C565D0A36C7}"/>
              </a:ext>
            </a:extLst>
          </p:cNvPr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>
            <a:extLst>
              <a:ext uri="{FF2B5EF4-FFF2-40B4-BE49-F238E27FC236}">
                <a16:creationId xmlns:a16="http://schemas.microsoft.com/office/drawing/2014/main" id="{FE292D2C-567C-1946-55C0-446C8F81C702}"/>
              </a:ext>
            </a:extLst>
          </p:cNvPr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2. Arhitectura preliminară a soluției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8F8B66B8-CA90-5B78-CAB8-914F44E522C8}"/>
              </a:ext>
            </a:extLst>
          </p:cNvPr>
          <p:cNvSpPr/>
          <p:nvPr/>
        </p:nvSpPr>
        <p:spPr>
          <a:xfrm>
            <a:off x="571680" y="2242800"/>
            <a:ext cx="17203320" cy="710258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CNN model summary:</a:t>
            </a:r>
            <a:endParaRPr lang="ro-RO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ro-RO" sz="3400" b="1" dirty="0">
              <a:solidFill>
                <a:srgbClr val="000000"/>
              </a:solidFill>
              <a:latin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C352BDB-952F-6CF1-800C-32AC0A1EDA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D440C2F-7378-0D57-D538-1AF46CE6A5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420" y="2019240"/>
            <a:ext cx="6753840" cy="775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726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0" y="-44280"/>
            <a:ext cx="18287640" cy="8851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4400" b="1" dirty="0">
                <a:solidFill>
                  <a:schemeClr val="tx2"/>
                </a:solidFill>
              </a:rPr>
              <a:t>Predicția erupțiilor solare pe baza imaginilor AIA și HMI </a:t>
            </a:r>
            <a:endParaRPr lang="en-US" sz="4400" b="1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25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 dirty="0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3. </a:t>
            </a:r>
            <a:r>
              <a:rPr lang="en-US" sz="6000" b="1" u="none" strike="noStrike" dirty="0" err="1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Evaluarea</a:t>
            </a:r>
            <a:r>
              <a:rPr lang="en-US" sz="6000" b="1" u="none" strike="noStrike" dirty="0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en-US" sz="6000" b="1" u="none" strike="noStrike" dirty="0" err="1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Preliminară</a:t>
            </a:r>
            <a:r>
              <a:rPr lang="en-US" sz="6000" b="1" u="none" strike="noStrike" dirty="0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 a </a:t>
            </a:r>
            <a:r>
              <a:rPr lang="en-US" sz="6000" b="1" u="none" strike="noStrike" dirty="0" err="1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Soluției</a:t>
            </a: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/>
          <p:cNvSpPr/>
          <p:nvPr/>
        </p:nvSpPr>
        <p:spPr>
          <a:xfrm>
            <a:off x="571680" y="2242800"/>
            <a:ext cx="17203320" cy="352468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Metodologia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de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evaluare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</a:t>
            </a:r>
            <a:r>
              <a:rPr lang="ro-RO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ro-RO" sz="3400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Pentru evaluare am folosit MSE(Mean Square</a:t>
            </a:r>
            <a:r>
              <a:rPr lang="en-US" sz="3400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d</a:t>
            </a:r>
            <a:r>
              <a:rPr lang="ro-RO" sz="3400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Error)</a:t>
            </a:r>
            <a:endParaRPr lang="en-US" sz="3400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ro-RO" sz="3400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B586C3-3322-1730-4153-33AA5CA438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4C971E9-3F36-67CD-B0F9-A507F674FB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500" y="3569110"/>
            <a:ext cx="11430000" cy="58698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F45BE-DF0E-8860-95F0-0FCD3D5AC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3">
            <a:extLst>
              <a:ext uri="{FF2B5EF4-FFF2-40B4-BE49-F238E27FC236}">
                <a16:creationId xmlns:a16="http://schemas.microsoft.com/office/drawing/2014/main" id="{DF0544A2-F482-E4FD-8D3E-E951DCA10FD4}"/>
              </a:ext>
            </a:extLst>
          </p:cNvPr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3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>
            <a:extLst>
              <a:ext uri="{FF2B5EF4-FFF2-40B4-BE49-F238E27FC236}">
                <a16:creationId xmlns:a16="http://schemas.microsoft.com/office/drawing/2014/main" id="{6B8BC3C2-0DDF-9414-7FC1-EE218B44E99F}"/>
              </a:ext>
            </a:extLst>
          </p:cNvPr>
          <p:cNvSpPr/>
          <p:nvPr/>
        </p:nvSpPr>
        <p:spPr>
          <a:xfrm>
            <a:off x="0" y="-44280"/>
            <a:ext cx="18287640" cy="8851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4400" b="1" dirty="0">
                <a:solidFill>
                  <a:schemeClr val="tx2"/>
                </a:solidFill>
              </a:rPr>
              <a:t>Predicția erupțiilor solare pe baza imaginilor AIA și HMI </a:t>
            </a:r>
            <a:endParaRPr lang="en-US" sz="4400" b="1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5">
            <a:extLst>
              <a:ext uri="{FF2B5EF4-FFF2-40B4-BE49-F238E27FC236}">
                <a16:creationId xmlns:a16="http://schemas.microsoft.com/office/drawing/2014/main" id="{30977D4E-6A05-B7EA-5C20-CEF4B6716485}"/>
              </a:ext>
            </a:extLst>
          </p:cNvPr>
          <p:cNvSpPr/>
          <p:nvPr/>
        </p:nvSpPr>
        <p:spPr>
          <a:xfrm>
            <a:off x="25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6">
            <a:extLst>
              <a:ext uri="{FF2B5EF4-FFF2-40B4-BE49-F238E27FC236}">
                <a16:creationId xmlns:a16="http://schemas.microsoft.com/office/drawing/2014/main" id="{0091633B-2757-9A3F-756B-38A7EA98FBC1}"/>
              </a:ext>
            </a:extLst>
          </p:cNvPr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 dirty="0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3. </a:t>
            </a:r>
            <a:r>
              <a:rPr lang="en-US" sz="6000" b="1" u="none" strike="noStrike" dirty="0" err="1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Evaluarea</a:t>
            </a:r>
            <a:r>
              <a:rPr lang="en-US" sz="6000" b="1" u="none" strike="noStrike" dirty="0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en-US" sz="6000" b="1" u="none" strike="noStrike" dirty="0" err="1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Preliminară</a:t>
            </a:r>
            <a:r>
              <a:rPr lang="en-US" sz="6000" b="1" u="none" strike="noStrike" dirty="0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 a </a:t>
            </a:r>
            <a:r>
              <a:rPr lang="en-US" sz="6000" b="1" u="none" strike="noStrike" dirty="0" err="1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Soluției</a:t>
            </a: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7">
            <a:extLst>
              <a:ext uri="{FF2B5EF4-FFF2-40B4-BE49-F238E27FC236}">
                <a16:creationId xmlns:a16="http://schemas.microsoft.com/office/drawing/2014/main" id="{A01084FE-13DB-7E77-F9A7-6970A597412C}"/>
              </a:ext>
            </a:extLst>
          </p:cNvPr>
          <p:cNvSpPr/>
          <p:nvPr/>
        </p:nvSpPr>
        <p:spPr>
          <a:xfrm>
            <a:off x="571680" y="2242800"/>
            <a:ext cx="17203320" cy="59868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endParaRPr lang="ro-RO" sz="3400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Setul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de date: </a:t>
            </a: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dirty="0">
                <a:solidFill>
                  <a:srgbClr val="000000"/>
                </a:solidFill>
                <a:latin typeface="Space Mono"/>
                <a:ea typeface="Space Mono Bold"/>
              </a:rPr>
              <a:t>-s</a:t>
            </a:r>
            <a:r>
              <a:rPr lang="ro-RO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etul de date este cel de pe SDOBenchmark filtrat pentru fereastra 0-24h</a:t>
            </a:r>
            <a:endParaRPr lang="ro-RO" sz="3400" dirty="0">
              <a:solidFill>
                <a:srgbClr val="000000"/>
              </a:solidFill>
              <a:latin typeface="Space Mono"/>
            </a:endParaRP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Exemple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de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cazuri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de test:</a:t>
            </a:r>
            <a:r>
              <a:rPr lang="ro-RO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-p</a:t>
            </a:r>
            <a:r>
              <a:rPr lang="ro-RO" sz="3400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entru teste folosim imagini din diverse perioade de timp pentru a verifica acuratetea ex</a:t>
            </a:r>
            <a:r>
              <a:rPr lang="ro-RO" sz="3400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  <a:sym typeface="Wingdings" panose="05000000000000000000" pitchFamily="2" charset="2"/>
              </a:rPr>
              <a:t>:1.5h,3h,12h</a:t>
            </a:r>
            <a:endParaRPr lang="en-US" sz="18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2DEC1B-45A0-0F8E-3285-20F399CC8F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046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E48ED-0CE5-25E9-419E-4C668215E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Freeform 3">
            <a:extLst>
              <a:ext uri="{FF2B5EF4-FFF2-40B4-BE49-F238E27FC236}">
                <a16:creationId xmlns:a16="http://schemas.microsoft.com/office/drawing/2014/main" id="{093951CD-E2B9-C7B8-2D9E-1065997A891C}"/>
              </a:ext>
            </a:extLst>
          </p:cNvPr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4">
            <a:extLst>
              <a:ext uri="{FF2B5EF4-FFF2-40B4-BE49-F238E27FC236}">
                <a16:creationId xmlns:a16="http://schemas.microsoft.com/office/drawing/2014/main" id="{AA4DFFCB-DF4C-8F84-C987-A1CFF797425F}"/>
              </a:ext>
            </a:extLst>
          </p:cNvPr>
          <p:cNvSpPr/>
          <p:nvPr/>
        </p:nvSpPr>
        <p:spPr>
          <a:xfrm>
            <a:off x="0" y="-44280"/>
            <a:ext cx="18287640" cy="8851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4400" b="1" dirty="0">
                <a:solidFill>
                  <a:schemeClr val="tx2"/>
                </a:solidFill>
              </a:rPr>
              <a:t>Predicția erupțiilor solare pe baza imaginilor AIA și HMI </a:t>
            </a:r>
            <a:endParaRPr lang="en-US" sz="4400" b="1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>
            <a:extLst>
              <a:ext uri="{FF2B5EF4-FFF2-40B4-BE49-F238E27FC236}">
                <a16:creationId xmlns:a16="http://schemas.microsoft.com/office/drawing/2014/main" id="{FB9DEDA1-0271-F8E5-179B-D87D2EF5F3DC}"/>
              </a:ext>
            </a:extLst>
          </p:cNvPr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>
            <a:extLst>
              <a:ext uri="{FF2B5EF4-FFF2-40B4-BE49-F238E27FC236}">
                <a16:creationId xmlns:a16="http://schemas.microsoft.com/office/drawing/2014/main" id="{A9B6F3DD-A0C1-E671-D8A5-F68E8C7AF8A8}"/>
              </a:ext>
            </a:extLst>
          </p:cNvPr>
          <p:cNvSpPr/>
          <p:nvPr/>
        </p:nvSpPr>
        <p:spPr>
          <a:xfrm>
            <a:off x="0" y="1009800"/>
            <a:ext cx="17775000" cy="20603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>
              <a:lnSpc>
                <a:spcPts val="8399"/>
              </a:lnSpc>
            </a:pPr>
            <a:r>
              <a:rPr lang="en-US" sz="6000" b="1" dirty="0">
                <a:solidFill>
                  <a:srgbClr val="2E5375"/>
                </a:solidFill>
                <a:latin typeface="Space Mono Bold"/>
                <a:ea typeface="Space Mono Bold"/>
              </a:rPr>
              <a:t>3. </a:t>
            </a:r>
            <a:r>
              <a:rPr lang="en-US" sz="6000" b="1" dirty="0" err="1">
                <a:solidFill>
                  <a:srgbClr val="2E5375"/>
                </a:solidFill>
                <a:latin typeface="Space Mono Bold"/>
                <a:ea typeface="Space Mono Bold"/>
              </a:rPr>
              <a:t>Evaluarea</a:t>
            </a:r>
            <a:r>
              <a:rPr lang="en-US" sz="6000" b="1" dirty="0">
                <a:solidFill>
                  <a:srgbClr val="2E5375"/>
                </a:solidFill>
                <a:latin typeface="Space Mono Bold"/>
                <a:ea typeface="Space Mono Bold"/>
              </a:rPr>
              <a:t> </a:t>
            </a:r>
            <a:r>
              <a:rPr lang="en-US" sz="6000" b="1" dirty="0" err="1">
                <a:solidFill>
                  <a:srgbClr val="2E5375"/>
                </a:solidFill>
                <a:latin typeface="Space Mono Bold"/>
                <a:ea typeface="Space Mono Bold"/>
              </a:rPr>
              <a:t>Preliminară</a:t>
            </a:r>
            <a:r>
              <a:rPr lang="en-US" sz="6000" b="1" dirty="0">
                <a:solidFill>
                  <a:srgbClr val="2E5375"/>
                </a:solidFill>
                <a:latin typeface="Space Mono Bold"/>
                <a:ea typeface="Space Mono Bold"/>
              </a:rPr>
              <a:t> a </a:t>
            </a:r>
            <a:r>
              <a:rPr lang="en-US" sz="6000" b="1" dirty="0" err="1">
                <a:solidFill>
                  <a:srgbClr val="2E5375"/>
                </a:solidFill>
                <a:latin typeface="Space Mono Bold"/>
                <a:ea typeface="Space Mono Bold"/>
              </a:rPr>
              <a:t>Soluției</a:t>
            </a:r>
            <a:endParaRPr lang="en-US" sz="6000" dirty="0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ts val="8399"/>
              </a:lnSpc>
            </a:pPr>
            <a:endParaRPr lang="en-US" sz="6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>
            <a:extLst>
              <a:ext uri="{FF2B5EF4-FFF2-40B4-BE49-F238E27FC236}">
                <a16:creationId xmlns:a16="http://schemas.microsoft.com/office/drawing/2014/main" id="{F2225A8F-E6C4-FFD7-5EE0-38E650C6FA69}"/>
              </a:ext>
            </a:extLst>
          </p:cNvPr>
          <p:cNvSpPr/>
          <p:nvPr/>
        </p:nvSpPr>
        <p:spPr>
          <a:xfrm>
            <a:off x="571680" y="2242800"/>
            <a:ext cx="17203320" cy="77181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b="1" dirty="0">
                <a:solidFill>
                  <a:srgbClr val="000000"/>
                </a:solidFill>
                <a:latin typeface="Space Mono Bold"/>
                <a:ea typeface="Space Mono Bold"/>
              </a:rPr>
              <a:t>SDO AIA photos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   wavelength 211          wavelength 304 </a:t>
            </a:r>
            <a:endParaRPr lang="ro-RO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ro-RO" sz="3400" b="1" dirty="0">
              <a:solidFill>
                <a:srgbClr val="000000"/>
              </a:solidFill>
              <a:latin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b="1" dirty="0">
                <a:solidFill>
                  <a:srgbClr val="000000"/>
                </a:solidFill>
                <a:latin typeface="Space Mono Bold"/>
                <a:ea typeface="Space Mono Bold"/>
              </a:rPr>
              <a:t>SDO HMI photos:     continuum               magnetogram</a:t>
            </a: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920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5BC41A-2948-59FC-D5AD-AE408EA09F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  <p:pic>
        <p:nvPicPr>
          <p:cNvPr id="4" name="Picture 3" descr="A close-up of a cloud&#10;&#10;AI-generated content may be incorrect.">
            <a:extLst>
              <a:ext uri="{FF2B5EF4-FFF2-40B4-BE49-F238E27FC236}">
                <a16:creationId xmlns:a16="http://schemas.microsoft.com/office/drawing/2014/main" id="{69BD3C96-BF91-7B07-2A0E-F70FF4379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4581" y="3098390"/>
            <a:ext cx="2438400" cy="2438400"/>
          </a:xfrm>
          <a:prstGeom prst="rect">
            <a:avLst/>
          </a:prstGeom>
        </p:spPr>
      </p:pic>
      <p:pic>
        <p:nvPicPr>
          <p:cNvPr id="6" name="Picture 5" descr="A close-up of a grey sky&#10;&#10;AI-generated content may be incorrect.">
            <a:extLst>
              <a:ext uri="{FF2B5EF4-FFF2-40B4-BE49-F238E27FC236}">
                <a16:creationId xmlns:a16="http://schemas.microsoft.com/office/drawing/2014/main" id="{BE57D853-36F3-8BC8-E4E0-78A49BEA5A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736" y="3098390"/>
            <a:ext cx="2438400" cy="2438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53F904-B10A-1AFD-8F34-FFD8BEEBAA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4581" y="6838800"/>
            <a:ext cx="2438400" cy="2438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8B3B10-1271-FC05-9C8E-1BAAB3398F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736" y="6838800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51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0" y="-44280"/>
            <a:ext cx="18287640" cy="8851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4400" b="1" dirty="0">
                <a:solidFill>
                  <a:schemeClr val="tx2"/>
                </a:solidFill>
              </a:rPr>
              <a:t>Predicția erupțiilor solare pe baza imaginilor AIA și HMI </a:t>
            </a:r>
            <a:endParaRPr lang="en-US" sz="4400" b="1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4. Rezultate Preliminare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7"/>
          <p:cNvSpPr/>
          <p:nvPr/>
        </p:nvSpPr>
        <p:spPr>
          <a:xfrm>
            <a:off x="571680" y="2242800"/>
            <a:ext cx="17203320" cy="138993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Rezultate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obținute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 </a:t>
            </a: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dirty="0">
                <a:solidFill>
                  <a:srgbClr val="000000"/>
                </a:solidFill>
                <a:latin typeface="Space Mono Bold"/>
                <a:ea typeface="Space Mono Bold"/>
              </a:rPr>
              <a:t>-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predictia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pentru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o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poza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~30ms cu T4-GPU</a:t>
            </a: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				</a:t>
            </a: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				Timp real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pana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la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eruptie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: 12h    </a:t>
            </a: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				Timp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prezis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de CNN : 8.12h</a:t>
            </a: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366840" lvl="1">
              <a:lnSpc>
                <a:spcPts val="4759"/>
              </a:lnSpc>
              <a:buClr>
                <a:srgbClr val="000000"/>
              </a:buClr>
            </a:pP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Timp real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pana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la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eruptie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: 5h    </a:t>
            </a:r>
          </a:p>
          <a:p>
            <a:pPr marL="366840" lvl="1">
              <a:lnSpc>
                <a:spcPts val="4759"/>
              </a:lnSpc>
              <a:buClr>
                <a:srgbClr val="000000"/>
              </a:buClr>
            </a:pP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Timp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prezis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de CNN : 12.45h(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eroare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foarte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mare)</a:t>
            </a: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i="1" dirty="0">
                <a:solidFill>
                  <a:srgbClr val="000000"/>
                </a:solidFill>
                <a:latin typeface="Space Mono Bold"/>
                <a:ea typeface="Space Mono Bold"/>
              </a:rPr>
              <a:t>!!MSE are o </a:t>
            </a:r>
            <a:r>
              <a:rPr lang="en-US" sz="3400" i="1" dirty="0" err="1">
                <a:solidFill>
                  <a:srgbClr val="000000"/>
                </a:solidFill>
                <a:latin typeface="Space Mono Bold"/>
                <a:ea typeface="Space Mono Bold"/>
              </a:rPr>
              <a:t>valoare</a:t>
            </a:r>
            <a:r>
              <a:rPr lang="en-US" sz="3400" i="1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i="1" dirty="0" err="1">
                <a:solidFill>
                  <a:srgbClr val="000000"/>
                </a:solidFill>
                <a:latin typeface="Space Mono Bold"/>
                <a:ea typeface="Space Mono Bold"/>
              </a:rPr>
              <a:t>foarte</a:t>
            </a:r>
            <a:r>
              <a:rPr lang="en-US" sz="3400" i="1" dirty="0">
                <a:solidFill>
                  <a:srgbClr val="000000"/>
                </a:solidFill>
                <a:latin typeface="Space Mono Bold"/>
                <a:ea typeface="Space Mono Bold"/>
              </a:rPr>
              <a:t> mare </a:t>
            </a:r>
            <a:r>
              <a:rPr lang="en-US" sz="3400" i="1" dirty="0" err="1">
                <a:solidFill>
                  <a:srgbClr val="000000"/>
                </a:solidFill>
                <a:latin typeface="Space Mono Bold"/>
                <a:ea typeface="Space Mono Bold"/>
              </a:rPr>
              <a:t>si</a:t>
            </a:r>
            <a:r>
              <a:rPr lang="en-US" sz="3400" i="1" dirty="0">
                <a:solidFill>
                  <a:srgbClr val="000000"/>
                </a:solidFill>
                <a:latin typeface="Space Mono Bold"/>
                <a:ea typeface="Space Mono Bold"/>
              </a:rPr>
              <a:t> de </a:t>
            </a:r>
            <a:r>
              <a:rPr lang="en-US" sz="3400" i="1" dirty="0" err="1">
                <a:solidFill>
                  <a:srgbClr val="000000"/>
                </a:solidFill>
                <a:latin typeface="Space Mono Bold"/>
                <a:ea typeface="Space Mono Bold"/>
              </a:rPr>
              <a:t>accea</a:t>
            </a:r>
            <a:r>
              <a:rPr lang="en-US" sz="3400" i="1" dirty="0">
                <a:solidFill>
                  <a:srgbClr val="000000"/>
                </a:solidFill>
                <a:latin typeface="Space Mono Bold"/>
                <a:ea typeface="Space Mono Bold"/>
              </a:rPr>
              <a:t> nu am </a:t>
            </a:r>
            <a:r>
              <a:rPr lang="en-US" sz="3400" i="1" dirty="0" err="1">
                <a:solidFill>
                  <a:srgbClr val="000000"/>
                </a:solidFill>
                <a:latin typeface="Space Mono Bold"/>
                <a:ea typeface="Space Mono Bold"/>
              </a:rPr>
              <a:t>introdus</a:t>
            </a:r>
            <a:r>
              <a:rPr lang="en-US" sz="3400" i="1" dirty="0">
                <a:solidFill>
                  <a:srgbClr val="000000"/>
                </a:solidFill>
                <a:latin typeface="Space Mono Bold"/>
                <a:ea typeface="Space Mono Bold"/>
              </a:rPr>
              <a:t>-o </a:t>
            </a: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i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endParaRPr lang="en-US" sz="3400" b="1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Interpretarea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rezultatelor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Explicați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semnificația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acestor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rezultate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și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cum se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compară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cu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așteptările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 </a:t>
            </a:r>
            <a:r>
              <a:rPr lang="en-US" sz="3400" b="0" u="none" strike="noStrike" dirty="0" err="1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inițiale</a:t>
            </a:r>
            <a:r>
              <a:rPr lang="en-US" sz="3400" b="0" u="none" strike="noStrike" dirty="0">
                <a:solidFill>
                  <a:srgbClr val="000000"/>
                </a:solidFill>
                <a:effectLst/>
                <a:uFillTx/>
                <a:latin typeface="Space Mono"/>
                <a:ea typeface="Space Mono"/>
              </a:rPr>
              <a:t>.</a:t>
            </a:r>
            <a:endParaRPr lang="en-US" sz="3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2900" b="0" u="none" strike="noStrike" dirty="0">
              <a:solidFill>
                <a:srgbClr val="FF0000"/>
              </a:solidFill>
              <a:effectLst/>
              <a:uFillTx/>
              <a:latin typeface="Space Mono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866495-3DEB-B6E0-4994-67C5C0584A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  <p:pic>
        <p:nvPicPr>
          <p:cNvPr id="4" name="Picture 3" descr="A black hole in a grey surface&#10;&#10;AI-generated content may be incorrect.">
            <a:extLst>
              <a:ext uri="{FF2B5EF4-FFF2-40B4-BE49-F238E27FC236}">
                <a16:creationId xmlns:a16="http://schemas.microsoft.com/office/drawing/2014/main" id="{07A230B0-F7D3-5FB8-D06F-344885268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639" y="3686315"/>
            <a:ext cx="2914370" cy="2914370"/>
          </a:xfrm>
          <a:prstGeom prst="rect">
            <a:avLst/>
          </a:prstGeom>
        </p:spPr>
      </p:pic>
      <p:pic>
        <p:nvPicPr>
          <p:cNvPr id="8" name="Picture 7" descr="A close-up of a black hole&#10;&#10;AI-generated content may be incorrect.">
            <a:extLst>
              <a:ext uri="{FF2B5EF4-FFF2-40B4-BE49-F238E27FC236}">
                <a16:creationId xmlns:a16="http://schemas.microsoft.com/office/drawing/2014/main" id="{CFEE3A60-8F93-D606-030B-4BBFE651B9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9765" y="5860972"/>
            <a:ext cx="2914370" cy="29143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0" y="-44280"/>
            <a:ext cx="18287640" cy="8851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4400" b="1" dirty="0">
                <a:solidFill>
                  <a:schemeClr val="tx2"/>
                </a:solidFill>
              </a:rPr>
              <a:t>Predicția erupțiilor solare pe baza imaginilor AIA și HMI </a:t>
            </a:r>
            <a:endParaRPr lang="en-US" sz="4400" b="1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5. Concluzii Preliminare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7"/>
          <p:cNvSpPr/>
          <p:nvPr/>
        </p:nvSpPr>
        <p:spPr>
          <a:xfrm>
            <a:off x="571680" y="2242800"/>
            <a:ext cx="17203320" cy="84491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Rezumatul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progresului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 </a:t>
            </a: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-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preprocesarea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datelor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interes</a:t>
            </a:r>
            <a:endParaRPr lang="en-US" sz="3400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824040" lvl="1" indent="-457200" defTabSz="914400">
              <a:lnSpc>
                <a:spcPts val="4759"/>
              </a:lnSpc>
              <a:buClr>
                <a:srgbClr val="000000"/>
              </a:buClr>
              <a:buFontTx/>
              <a:buChar char="-"/>
            </a:pP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retea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neuronala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functionala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dar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putin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eficienta</a:t>
            </a:r>
            <a:endParaRPr lang="en-US" sz="3400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824040" lvl="1" indent="-457200" defTabSz="914400">
              <a:lnSpc>
                <a:spcPts val="4759"/>
              </a:lnSpc>
              <a:buClr>
                <a:srgbClr val="000000"/>
              </a:buClr>
              <a:buFontTx/>
              <a:buChar char="-"/>
            </a:pPr>
            <a:endParaRPr lang="en-US" sz="3400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Limitările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soluției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actuale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 </a:t>
            </a:r>
          </a:p>
          <a:p>
            <a:pPr marL="824040" lvl="1" indent="-457200" defTabSz="914400">
              <a:lnSpc>
                <a:spcPts val="4759"/>
              </a:lnSpc>
              <a:buClr>
                <a:srgbClr val="000000"/>
              </a:buClr>
              <a:buFontTx/>
              <a:buChar char="-"/>
            </a:pP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multe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canale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deci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ambiguitate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in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alegerile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corecte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pentru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invatare</a:t>
            </a:r>
            <a:endParaRPr lang="en-US" sz="3400" dirty="0">
              <a:solidFill>
                <a:srgbClr val="000000"/>
              </a:solidFill>
              <a:latin typeface="Space Mono Bold"/>
              <a:ea typeface="Space Mono Bold"/>
            </a:endParaRPr>
          </a:p>
          <a:p>
            <a:pPr marL="824040" lvl="1" indent="-457200" defTabSz="914400">
              <a:lnSpc>
                <a:spcPts val="4759"/>
              </a:lnSpc>
              <a:buClr>
                <a:srgbClr val="000000"/>
              </a:buClr>
              <a:buFontTx/>
              <a:buChar char="-"/>
            </a:pPr>
            <a:endParaRPr lang="en-US" sz="3400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Potențiale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îmbunătățiri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</a:t>
            </a: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b="1" dirty="0">
                <a:solidFill>
                  <a:srgbClr val="000000"/>
                </a:solidFill>
                <a:latin typeface="Space Mono Bold"/>
              </a:rPr>
              <a:t>-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folosirea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unei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retele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neuronale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mai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rapida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si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cu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mai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multe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canale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procesare</a:t>
            </a:r>
            <a:endParaRPr lang="en-US" sz="18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517E58-C7EC-9E70-7916-779D59E693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Freeform 3"/>
          <p:cNvSpPr/>
          <p:nvPr/>
        </p:nvSpPr>
        <p:spPr>
          <a:xfrm>
            <a:off x="61560" y="0"/>
            <a:ext cx="2255400" cy="960480"/>
          </a:xfrm>
          <a:custGeom>
            <a:avLst/>
            <a:gdLst>
              <a:gd name="textAreaLeft" fmla="*/ 0 w 2255400"/>
              <a:gd name="textAreaRight" fmla="*/ 2255760 w 2255400"/>
              <a:gd name="textAreaTop" fmla="*/ 0 h 960480"/>
              <a:gd name="textAreaBottom" fmla="*/ 960840 h 960480"/>
            </a:gdLst>
            <a:ahLst/>
            <a:cxnLst/>
            <a:rect l="textAreaLeft" t="textAreaTop" r="textAreaRight" b="textAreaBottom"/>
            <a:pathLst>
              <a:path w="2255738" h="960936">
                <a:moveTo>
                  <a:pt x="0" y="0"/>
                </a:moveTo>
                <a:lnTo>
                  <a:pt x="2255738" y="0"/>
                </a:lnTo>
                <a:lnTo>
                  <a:pt x="2255738" y="960936"/>
                </a:lnTo>
                <a:lnTo>
                  <a:pt x="0" y="960936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4"/>
          <p:cNvSpPr/>
          <p:nvPr/>
        </p:nvSpPr>
        <p:spPr>
          <a:xfrm>
            <a:off x="0" y="-44280"/>
            <a:ext cx="18287640" cy="8851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7690"/>
              </a:lnSpc>
            </a:pPr>
            <a:r>
              <a:rPr lang="ro-RO" sz="4400" b="1" dirty="0">
                <a:solidFill>
                  <a:schemeClr val="tx2"/>
                </a:solidFill>
              </a:rPr>
              <a:t>Predicția erupțiilor solare pe baza imaginilor AIA și HMI </a:t>
            </a:r>
            <a:endParaRPr lang="en-US" sz="4400" b="1" strike="noStrike" dirty="0">
              <a:solidFill>
                <a:schemeClr val="tx2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61560" y="9686520"/>
            <a:ext cx="1822608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ts val="4201"/>
              </a:lnSpc>
            </a:pPr>
            <a:r>
              <a:rPr lang="en-US" sz="3000" b="1" u="none" strike="noStrike">
                <a:solidFill>
                  <a:srgbClr val="A6B5C2"/>
                </a:solidFill>
                <a:effectLst/>
                <a:uFillTx/>
                <a:latin typeface="Space Mono Bold"/>
                <a:ea typeface="Space Mono Bold"/>
              </a:rPr>
              <a:t>Prelucrarea Imaginilor - Proiect, 2025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0" y="1009800"/>
            <a:ext cx="17775000" cy="10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ts val="8399"/>
              </a:lnSpc>
            </a:pPr>
            <a:r>
              <a:rPr lang="en-US" sz="6000" b="1" u="none" strike="noStrike">
                <a:solidFill>
                  <a:srgbClr val="2E5375"/>
                </a:solidFill>
                <a:effectLst/>
                <a:uFillTx/>
                <a:latin typeface="Space Mono Bold"/>
                <a:ea typeface="Space Mono Bold"/>
              </a:rPr>
              <a:t>6. Direcții Viitoare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571680" y="2242800"/>
            <a:ext cx="17203320" cy="59868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Pași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următori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:</a:t>
            </a: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-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testarea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si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imbunatatirea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datelor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de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intrare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si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a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retelei</a:t>
            </a:r>
            <a:r>
              <a:rPr lang="en-US" sz="3400" dirty="0">
                <a:solidFill>
                  <a:srgbClr val="000000"/>
                </a:solidFill>
                <a:latin typeface="Space Mono Bold"/>
                <a:ea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  <a:ea typeface="Space Mono Bold"/>
              </a:rPr>
              <a:t>neuronale</a:t>
            </a:r>
            <a:r>
              <a:rPr lang="en-US" sz="3400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</a:t>
            </a: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endParaRPr lang="en-US" sz="3400" b="1" u="none" strike="noStrike" dirty="0">
              <a:solidFill>
                <a:srgbClr val="000000"/>
              </a:solidFill>
              <a:effectLst/>
              <a:uFillTx/>
              <a:latin typeface="Space Mono Bold"/>
              <a:ea typeface="Space Mono Bold"/>
            </a:endParaRPr>
          </a:p>
          <a:p>
            <a:pPr marL="734040" lvl="1" indent="-367200" defTabSz="914400">
              <a:lnSpc>
                <a:spcPts val="4759"/>
              </a:lnSpc>
              <a:buClr>
                <a:srgbClr val="000000"/>
              </a:buClr>
              <a:buFont typeface="Arial"/>
              <a:buChar char="•"/>
            </a:pPr>
            <a:r>
              <a:rPr lang="en-US" sz="3400" b="1" u="none" strike="noStrike" dirty="0" err="1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Obiectivele</a:t>
            </a:r>
            <a:r>
              <a:rPr lang="en-US" sz="3400" b="1" u="none" strike="noStrike" dirty="0">
                <a:solidFill>
                  <a:srgbClr val="000000"/>
                </a:solidFill>
                <a:effectLst/>
                <a:uFillTx/>
                <a:latin typeface="Space Mono Bold"/>
                <a:ea typeface="Space Mono Bold"/>
              </a:rPr>
              <a:t> finale:</a:t>
            </a:r>
          </a:p>
          <a:p>
            <a:pPr marL="366840" lvl="1" defTabSz="914400">
              <a:lnSpc>
                <a:spcPts val="4759"/>
              </a:lnSpc>
              <a:buClr>
                <a:srgbClr val="000000"/>
              </a:buClr>
            </a:pPr>
            <a:r>
              <a:rPr lang="en-US" sz="3400" dirty="0">
                <a:solidFill>
                  <a:srgbClr val="000000"/>
                </a:solidFill>
                <a:latin typeface="Space Mono Bold"/>
              </a:rPr>
              <a:t>-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dorim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sa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ajungem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la un MSE &lt; 10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si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ulterior o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implementare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a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programului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pentru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a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putea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procesa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o </a:t>
            </a:r>
            <a:r>
              <a:rPr lang="en-US" sz="3400" dirty="0" err="1">
                <a:solidFill>
                  <a:srgbClr val="000000"/>
                </a:solidFill>
                <a:latin typeface="Space Mono Bold"/>
              </a:rPr>
              <a:t>filmare</a:t>
            </a:r>
            <a:r>
              <a:rPr lang="en-US" sz="3400" dirty="0">
                <a:solidFill>
                  <a:srgbClr val="000000"/>
                </a:solidFill>
                <a:latin typeface="Space Mono Bold"/>
              </a:rPr>
              <a:t> live cu 30fps </a:t>
            </a:r>
            <a:endParaRPr lang="en-US" sz="340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7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 defTabSz="914400">
              <a:lnSpc>
                <a:spcPts val="4059"/>
              </a:lnSpc>
            </a:pP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5C6C77-D08D-1D6C-A211-4E6F59B107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3200" y="0"/>
            <a:ext cx="2783240" cy="8700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21BABF02A29445BF62A78973058BB2" ma:contentTypeVersion="6" ma:contentTypeDescription="Create a new document." ma:contentTypeScope="" ma:versionID="d16ed2d134937cd25a7a643301841678">
  <xsd:schema xmlns:xsd="http://www.w3.org/2001/XMLSchema" xmlns:xs="http://www.w3.org/2001/XMLSchema" xmlns:p="http://schemas.microsoft.com/office/2006/metadata/properties" xmlns:ns3="317775a6-e4b2-46c5-befe-c4107fc33ff0" targetNamespace="http://schemas.microsoft.com/office/2006/metadata/properties" ma:root="true" ma:fieldsID="84223ec9191fe132384e19803c41d74a" ns3:_="">
    <xsd:import namespace="317775a6-e4b2-46c5-befe-c4107fc33ff0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7775a6-e4b2-46c5-befe-c4107fc33ff0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17775a6-e4b2-46c5-befe-c4107fc33ff0" xsi:nil="true"/>
  </documentManagement>
</p:properties>
</file>

<file path=customXml/itemProps1.xml><?xml version="1.0" encoding="utf-8"?>
<ds:datastoreItem xmlns:ds="http://schemas.openxmlformats.org/officeDocument/2006/customXml" ds:itemID="{DB91C4CA-539E-4E4A-B823-E653B1DA913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CFDC514-47CC-40F7-BA1B-2949410576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17775a6-e4b2-46c5-befe-c4107fc33f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703B078-E40D-4F01-8C9C-F563EC4E40C1}">
  <ds:schemaRefs>
    <ds:schemaRef ds:uri="http://schemas.microsoft.com/office/2006/documentManagement/types"/>
    <ds:schemaRef ds:uri="http://purl.org/dc/terms/"/>
    <ds:schemaRef ds:uri="317775a6-e4b2-46c5-befe-c4107fc33ff0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399</TotalTime>
  <Words>525</Words>
  <Application>Microsoft Office PowerPoint</Application>
  <PresentationFormat>Custom</PresentationFormat>
  <Paragraphs>127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Symbol</vt:lpstr>
      <vt:lpstr>Space Mono</vt:lpstr>
      <vt:lpstr>Times New Roman</vt:lpstr>
      <vt:lpstr>Space Mono Bold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Template_prezentare_s4</dc:title>
  <dc:subject/>
  <dc:creator>User</dc:creator>
  <dc:description/>
  <cp:lastModifiedBy>Teodor Aparaschivei</cp:lastModifiedBy>
  <cp:revision>8</cp:revision>
  <dcterms:created xsi:type="dcterms:W3CDTF">2006-08-16T00:00:00Z</dcterms:created>
  <dcterms:modified xsi:type="dcterms:W3CDTF">2025-11-20T15:04:48Z</dcterms:modified>
  <dc:identifier>DAGVHg5y5Wo</dc:identifier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ContentTypeId">
    <vt:lpwstr>0x0101005721BABF02A29445BF62A78973058BB2</vt:lpwstr>
  </property>
</Properties>
</file>