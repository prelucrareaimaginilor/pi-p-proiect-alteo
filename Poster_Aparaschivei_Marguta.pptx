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185DE-C353-4051-96E9-C7635F44A9A6}" v="35" dt="2026-01-09T10:59:21.158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33" d="100"/>
          <a:sy n="33" d="100"/>
        </p:scale>
        <p:origin x="1824" y="211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50105000537611E-2"/>
          <c:y val="1.7277666479288988E-2"/>
          <c:w val="0.78015791947643409"/>
          <c:h val="0.91211508126165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VGG16 Block1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1066</c:v>
                </c:pt>
                <c:pt idx="1">
                  <c:v>1102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0D-4A67-B740-19725E99D3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VGG16 Block1+4+5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1066</c:v>
                </c:pt>
                <c:pt idx="1">
                  <c:v>1102</c:v>
                </c:pt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0D-4A67-B740-19725E99D3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3736960"/>
        <c:axId val="93738496"/>
      </c:barChart>
      <c:catAx>
        <c:axId val="937369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93738496"/>
        <c:crosses val="autoZero"/>
        <c:auto val="1"/>
        <c:lblAlgn val="ctr"/>
        <c:lblOffset val="100"/>
        <c:noMultiLvlLbl val="0"/>
      </c:catAx>
      <c:valAx>
        <c:axId val="93738496"/>
        <c:scaling>
          <c:orientation val="minMax"/>
          <c:max val="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n>
                  <a:noFill/>
                </a:ln>
                <a:solidFill>
                  <a:schemeClr val="tx1"/>
                </a:solidFill>
              </a:defRPr>
            </a:pPr>
            <a:endParaRPr lang="ro-RO"/>
          </a:p>
        </c:txPr>
        <c:crossAx val="937369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27413466140538012"/>
          <c:y val="1.3914403193169278E-3"/>
          <c:w val="0.39807763854885164"/>
          <c:h val="0.12896537209031478"/>
        </c:manualLayout>
      </c:layout>
      <c:overlay val="0"/>
    </c:legend>
    <c:plotVisOnly val="1"/>
    <c:dispBlanksAs val="gap"/>
    <c:showDLblsOverMax val="0"/>
  </c:chart>
  <c:txPr>
    <a:bodyPr anchor="t" anchorCtr="0"/>
    <a:lstStyle/>
    <a:p>
      <a:pPr>
        <a:defRPr sz="1800"/>
      </a:pPr>
      <a:endParaRPr lang="ro-RO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570801" y="84189"/>
            <a:ext cx="21117102" cy="321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o-RO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Predicția erupțiilor solare pe baza imaginilor AIA și HMI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604587" y="3125403"/>
            <a:ext cx="21117102" cy="222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o-RO" sz="4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Aparaschivei</a:t>
            </a:r>
            <a:r>
              <a:rPr lang="ro-RO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 Teodor</a:t>
            </a:r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; </a:t>
            </a:r>
            <a:r>
              <a:rPr lang="ro-RO" sz="4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Mărguță</a:t>
            </a:r>
            <a:r>
              <a:rPr lang="ro-RO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 Dan-Alexandru</a:t>
            </a:r>
            <a:endParaRPr lang="en-US" sz="46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ro-RO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Facultatea de Automatica și Calculatoare din Iași</a:t>
            </a:r>
            <a:endParaRPr lang="en-US" sz="46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1136" y="39049741"/>
            <a:ext cx="7380431" cy="23961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3000" dirty="0"/>
              <a:t>M</a:t>
            </a:r>
            <a:r>
              <a:rPr lang="ro-RO" sz="3000" dirty="0" err="1"/>
              <a:t>ărguță</a:t>
            </a:r>
            <a:r>
              <a:rPr lang="ro-RO" sz="3000" dirty="0"/>
              <a:t> Dan-Alexandru</a:t>
            </a:r>
          </a:p>
          <a:p>
            <a:r>
              <a:rPr lang="ro-RO" sz="3000" dirty="0" err="1"/>
              <a:t>Aparaschivei</a:t>
            </a:r>
            <a:r>
              <a:rPr lang="ro-RO" sz="3000" dirty="0"/>
              <a:t> Teodor</a:t>
            </a:r>
            <a:endParaRPr lang="en-US" sz="3000" dirty="0"/>
          </a:p>
          <a:p>
            <a:r>
              <a:rPr lang="ro-RO" sz="3000" dirty="0"/>
              <a:t>Facultatea de ”Automatică și Calculatoare” Iași</a:t>
            </a:r>
            <a:endParaRPr lang="en-US" sz="3000" dirty="0"/>
          </a:p>
          <a:p>
            <a:r>
              <a:rPr lang="ro-RO" sz="3000" dirty="0"/>
              <a:t>dan-alexandru.marguta@student.tuiasi.ro</a:t>
            </a:r>
          </a:p>
          <a:p>
            <a:r>
              <a:rPr lang="ro-RO" sz="3000" dirty="0"/>
              <a:t> </a:t>
            </a:r>
            <a:r>
              <a:rPr lang="ro-RO" sz="3000" dirty="0" err="1"/>
              <a:t>teodor.aparaschivei</a:t>
            </a:r>
            <a:r>
              <a:rPr lang="ro-RO" sz="3000" dirty="0"/>
              <a:t> @student.tuiasi.ro</a:t>
            </a:r>
            <a:endParaRPr lang="en-US" sz="3000" dirty="0"/>
          </a:p>
        </p:txBody>
      </p:sp>
      <p:sp>
        <p:nvSpPr>
          <p:cNvPr id="25" name="TextBox 24"/>
          <p:cNvSpPr txBox="1"/>
          <p:nvPr/>
        </p:nvSpPr>
        <p:spPr>
          <a:xfrm>
            <a:off x="1261136" y="37890733"/>
            <a:ext cx="2385859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33638" y="39049741"/>
            <a:ext cx="13452122" cy="3600434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434850" indent="-434850">
              <a:buFont typeface="+mj-lt"/>
              <a:buAutoNum type="arabicPeriod"/>
            </a:pPr>
            <a:r>
              <a:rPr lang="ro-RO" sz="1800" i="0" dirty="0">
                <a:solidFill>
                  <a:srgbClr val="000000"/>
                </a:solidFill>
                <a:effectLst/>
                <a:latin typeface="Lucida Grande"/>
              </a:rPr>
              <a:t>Julia </a:t>
            </a:r>
            <a:r>
              <a:rPr lang="ro-RO" sz="1800" i="0" dirty="0" err="1">
                <a:solidFill>
                  <a:srgbClr val="000000"/>
                </a:solidFill>
                <a:effectLst/>
                <a:latin typeface="Lucida Grande"/>
              </a:rPr>
              <a:t>Bringewald</a:t>
            </a:r>
            <a:r>
              <a:rPr lang="ro-RO" sz="1800" i="0" dirty="0">
                <a:solidFill>
                  <a:srgbClr val="000000"/>
                </a:solidFill>
                <a:effectLst/>
                <a:latin typeface="Lucida Grande"/>
              </a:rPr>
              <a:t>, </a:t>
            </a:r>
            <a:r>
              <a:rPr lang="en-US" sz="1800" i="0" dirty="0">
                <a:solidFill>
                  <a:srgbClr val="000000"/>
                </a:solidFill>
                <a:effectLst/>
                <a:latin typeface="Lucida Grande"/>
              </a:rPr>
              <a:t>Solar Flare Forecast: A Comparative Analysis of Machine Learning Algorithms for Solar Flare Class Prediction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800" dirty="0"/>
              <a:t> </a:t>
            </a:r>
            <a:r>
              <a:rPr lang="nl-NL" sz="1800" dirty="0">
                <a:latin typeface="Lucida Grande"/>
              </a:rPr>
              <a:t>Vysakh P. A</a:t>
            </a:r>
            <a:r>
              <a:rPr lang="ro-RO" sz="1800" dirty="0">
                <a:latin typeface="Lucida Grande"/>
              </a:rPr>
              <a:t> </a:t>
            </a:r>
            <a:r>
              <a:rPr lang="nl-NL" sz="1800" dirty="0">
                <a:latin typeface="Lucida Grande"/>
              </a:rPr>
              <a:t>.</a:t>
            </a:r>
            <a:r>
              <a:rPr lang="ro-RO" sz="1800" dirty="0">
                <a:latin typeface="Lucida Grande"/>
              </a:rPr>
              <a:t> </a:t>
            </a:r>
            <a:r>
              <a:rPr lang="nl-NL" sz="1800" i="0" dirty="0">
                <a:solidFill>
                  <a:srgbClr val="000000"/>
                </a:solidFill>
                <a:effectLst/>
                <a:latin typeface="Lucida Grande"/>
              </a:rPr>
              <a:t>, </a:t>
            </a:r>
            <a:r>
              <a:rPr lang="nl-NL" sz="1800" dirty="0">
                <a:latin typeface="Lucida Grande"/>
              </a:rPr>
              <a:t>Prateek Mayank</a:t>
            </a:r>
            <a:r>
              <a:rPr lang="ro-RO" sz="1800" dirty="0">
                <a:latin typeface="Lucida Grande"/>
              </a:rPr>
              <a:t>, </a:t>
            </a:r>
            <a:r>
              <a:rPr lang="en-US" sz="1800" i="0" dirty="0">
                <a:solidFill>
                  <a:srgbClr val="000000"/>
                </a:solidFill>
                <a:effectLst/>
                <a:latin typeface="Lucida Grande"/>
              </a:rPr>
              <a:t>Solar Flare Prediction and Feature Selection using Light Gradient Boosting Machine Algorithm</a:t>
            </a:r>
            <a:endParaRPr lang="en-US" sz="2000" dirty="0"/>
          </a:p>
          <a:p>
            <a:pPr marL="434850" indent="-434850">
              <a:buFont typeface="+mj-lt"/>
              <a:buAutoNum type="arabicPeriod"/>
            </a:pPr>
            <a:r>
              <a:rPr lang="en-US" sz="1800" dirty="0"/>
              <a:t> </a:t>
            </a:r>
            <a:r>
              <a:rPr lang="ro-RO" sz="1800" i="0" dirty="0" err="1">
                <a:solidFill>
                  <a:srgbClr val="1F2328"/>
                </a:solidFill>
                <a:effectLst/>
                <a:latin typeface="-apple-system"/>
              </a:rPr>
              <a:t>Xuebao</a:t>
            </a:r>
            <a:r>
              <a:rPr lang="ro-RO" sz="1800" i="0" dirty="0">
                <a:solidFill>
                  <a:srgbClr val="1F2328"/>
                </a:solidFill>
                <a:effectLst/>
                <a:latin typeface="-apple-system"/>
              </a:rPr>
              <a:t> Li, </a:t>
            </a:r>
            <a:r>
              <a:rPr lang="ro-RO" sz="1800" i="0" dirty="0" err="1">
                <a:solidFill>
                  <a:srgbClr val="1F2328"/>
                </a:solidFill>
                <a:effectLst/>
                <a:latin typeface="-apple-system"/>
              </a:rPr>
              <a:t>Yanfang</a:t>
            </a:r>
            <a:r>
              <a:rPr lang="ro-RO" sz="180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o-RO" sz="1800" i="0" dirty="0" err="1">
                <a:solidFill>
                  <a:srgbClr val="1F2328"/>
                </a:solidFill>
                <a:effectLst/>
                <a:latin typeface="-apple-system"/>
              </a:rPr>
              <a:t>Zheng</a:t>
            </a:r>
            <a:r>
              <a:rPr lang="ro-RO" sz="180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ro-RO" sz="1800" i="0" dirty="0" err="1">
                <a:solidFill>
                  <a:srgbClr val="1F2328"/>
                </a:solidFill>
                <a:effectLst/>
                <a:latin typeface="-apple-system"/>
              </a:rPr>
              <a:t>Xinshuo</a:t>
            </a:r>
            <a:r>
              <a:rPr lang="ro-RO" sz="1800" i="0" dirty="0">
                <a:solidFill>
                  <a:srgbClr val="1F2328"/>
                </a:solidFill>
                <a:effectLst/>
                <a:latin typeface="-apple-system"/>
              </a:rPr>
              <a:t> Wang, </a:t>
            </a:r>
            <a:r>
              <a:rPr lang="ro-RO" sz="1800" i="0" dirty="0" err="1">
                <a:solidFill>
                  <a:srgbClr val="1F2328"/>
                </a:solidFill>
                <a:effectLst/>
                <a:latin typeface="-apple-system"/>
              </a:rPr>
              <a:t>and</a:t>
            </a:r>
            <a:r>
              <a:rPr lang="ro-RO" sz="180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o-RO" sz="1800" i="0" dirty="0" err="1">
                <a:solidFill>
                  <a:srgbClr val="1F2328"/>
                </a:solidFill>
                <a:effectLst/>
                <a:latin typeface="-apple-system"/>
              </a:rPr>
              <a:t>Lulu</a:t>
            </a:r>
            <a:r>
              <a:rPr lang="ro-RO" sz="1800" i="0" dirty="0">
                <a:solidFill>
                  <a:srgbClr val="1F2328"/>
                </a:solidFill>
                <a:effectLst/>
                <a:latin typeface="-apple-system"/>
              </a:rPr>
              <a:t> Wang, </a:t>
            </a:r>
            <a:r>
              <a:rPr lang="en-US" sz="1800" i="0" dirty="0">
                <a:solidFill>
                  <a:srgbClr val="333333"/>
                </a:solidFill>
                <a:effectLst/>
                <a:latin typeface="-apple-system"/>
              </a:rPr>
              <a:t>Predicting Solar Flares Using a Novel Deep Convolutional Neural Network</a:t>
            </a:r>
            <a:endParaRPr lang="en-US" sz="1800" dirty="0"/>
          </a:p>
          <a:p>
            <a:pPr marL="434850" indent="-43485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ro-RO" sz="2000" dirty="0"/>
              <a:t>Interactive </a:t>
            </a:r>
            <a:r>
              <a:rPr lang="ro-RO" sz="2000" dirty="0" err="1"/>
              <a:t>multi</a:t>
            </a:r>
            <a:r>
              <a:rPr lang="ro-RO" sz="2000" dirty="0"/>
              <a:t>-instrument </a:t>
            </a:r>
            <a:r>
              <a:rPr lang="ro-RO" sz="2000" dirty="0" err="1"/>
              <a:t>database</a:t>
            </a:r>
            <a:r>
              <a:rPr lang="ro-RO" sz="2000" dirty="0"/>
              <a:t> of solar </a:t>
            </a:r>
            <a:r>
              <a:rPr lang="ro-RO" sz="2000" dirty="0" err="1"/>
              <a:t>flares</a:t>
            </a:r>
            <a:endParaRPr lang="en-US" sz="2000" dirty="0"/>
          </a:p>
          <a:p>
            <a:pPr marL="434850" indent="-434850">
              <a:buFont typeface="+mj-lt"/>
              <a:buAutoNum type="arabicPeriod"/>
            </a:pPr>
            <a:r>
              <a:rPr lang="en-US" sz="1800" dirty="0"/>
              <a:t> </a:t>
            </a:r>
            <a:r>
              <a:rPr lang="sv-SE" sz="1800" dirty="0">
                <a:latin typeface="Lucida Grande"/>
              </a:rPr>
              <a:t>Eric Jonas</a:t>
            </a:r>
            <a:r>
              <a:rPr lang="sv-SE" sz="1800" b="0" i="0" dirty="0">
                <a:effectLst/>
                <a:latin typeface="Lucida Grande"/>
              </a:rPr>
              <a:t>, </a:t>
            </a:r>
            <a:r>
              <a:rPr lang="sv-SE" sz="1800" dirty="0">
                <a:latin typeface="Lucida Grande"/>
              </a:rPr>
              <a:t>Monica G. Bobra</a:t>
            </a:r>
            <a:r>
              <a:rPr lang="sv-SE" sz="1800" b="0" i="0" dirty="0">
                <a:effectLst/>
                <a:latin typeface="Lucida Grande"/>
              </a:rPr>
              <a:t>, </a:t>
            </a:r>
            <a:r>
              <a:rPr lang="sv-SE" sz="1800" dirty="0">
                <a:latin typeface="Lucida Grande"/>
              </a:rPr>
              <a:t>Vaishaal Shankar</a:t>
            </a:r>
            <a:r>
              <a:rPr lang="sv-SE" sz="1800" b="0" i="0" dirty="0">
                <a:effectLst/>
                <a:latin typeface="Lucida Grande"/>
              </a:rPr>
              <a:t>, </a:t>
            </a:r>
            <a:r>
              <a:rPr lang="sv-SE" sz="1800" dirty="0">
                <a:latin typeface="Lucida Grande"/>
              </a:rPr>
              <a:t>J. Todd Hoeksema</a:t>
            </a:r>
            <a:r>
              <a:rPr lang="sv-SE" sz="1800" b="0" i="0" dirty="0">
                <a:effectLst/>
                <a:latin typeface="Lucida Grande"/>
              </a:rPr>
              <a:t>, </a:t>
            </a:r>
            <a:r>
              <a:rPr lang="sv-SE" sz="1800" dirty="0">
                <a:latin typeface="Lucida Grande"/>
              </a:rPr>
              <a:t>Benjamin Recht</a:t>
            </a:r>
            <a:r>
              <a:rPr lang="ro-RO" sz="800" dirty="0">
                <a:latin typeface="Lucida Grande"/>
              </a:rPr>
              <a:t>, </a:t>
            </a:r>
            <a:r>
              <a:rPr lang="en-US" sz="1800" i="0" dirty="0">
                <a:effectLst/>
                <a:latin typeface="Lucida Grande"/>
              </a:rPr>
              <a:t>Flare Prediction Using </a:t>
            </a:r>
            <a:r>
              <a:rPr lang="en-US" sz="1800" i="0" dirty="0" err="1">
                <a:effectLst/>
                <a:latin typeface="Lucida Grande"/>
              </a:rPr>
              <a:t>Photospheric</a:t>
            </a:r>
            <a:r>
              <a:rPr lang="en-US" sz="1800" i="0" dirty="0">
                <a:effectLst/>
                <a:latin typeface="Lucida Grande"/>
              </a:rPr>
              <a:t> and </a:t>
            </a:r>
            <a:r>
              <a:rPr lang="en-US" sz="1800" i="0" dirty="0">
                <a:solidFill>
                  <a:srgbClr val="000000"/>
                </a:solidFill>
                <a:effectLst/>
                <a:latin typeface="Lucida Grande"/>
              </a:rPr>
              <a:t>Coronal Image Data</a:t>
            </a:r>
            <a:endParaRPr lang="en-US" sz="2000" dirty="0"/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  <a:p>
            <a:endParaRPr lang="en-US" sz="1600" dirty="0"/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15133638" y="37890733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681515" y="7132373"/>
            <a:ext cx="8407576" cy="589125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000" dirty="0">
                <a:latin typeface="+mn-lt"/>
              </a:rPr>
              <a:t>Acest proiect abordează problema predicției erupțiilor solare, un fenomen cu implicații majore asupra sănătății umane și a integrității tehnologiei </a:t>
            </a:r>
            <a:r>
              <a:rPr lang="ro-RO" sz="3000" dirty="0" err="1">
                <a:latin typeface="+mn-lt"/>
              </a:rPr>
              <a:t>satelitare</a:t>
            </a:r>
            <a:r>
              <a:rPr lang="ro-RO" sz="3000" dirty="0">
                <a:latin typeface="+mn-lt"/>
              </a:rPr>
              <a:t> și planetare.</a:t>
            </a:r>
            <a:endParaRPr lang="en-US" sz="3000" dirty="0">
              <a:latin typeface="+mn-lt"/>
            </a:endParaRPr>
          </a:p>
          <a:p>
            <a:pPr eaLnBrk="1" hangingPunct="1"/>
            <a:endParaRPr lang="ro-RO" sz="3000" dirty="0">
              <a:latin typeface="+mn-lt"/>
            </a:endParaRPr>
          </a:p>
          <a:p>
            <a:pPr eaLnBrk="1" hangingPunct="1"/>
            <a:r>
              <a:rPr lang="ro-RO" sz="3000" dirty="0">
                <a:latin typeface="+mn-lt"/>
                <a:cs typeface="Arial" panose="020B0604020202020204" pitchFamily="34" charset="0"/>
              </a:rPr>
              <a:t>Obiectivul principal al proiectului este dezvoltarea unui sistem capabil sa calculeze predicția erupțiilor solare în timp.</a:t>
            </a:r>
          </a:p>
          <a:p>
            <a:pPr eaLnBrk="1" hangingPunct="1"/>
            <a:endParaRPr lang="ro-RO" sz="3000" dirty="0">
              <a:latin typeface="+mn-lt"/>
              <a:cs typeface="Arial" panose="020B0604020202020204" pitchFamily="34" charset="0"/>
            </a:endParaRPr>
          </a:p>
          <a:p>
            <a:pPr eaLnBrk="1" hangingPunct="1"/>
            <a:r>
              <a:rPr lang="ro-RO" sz="3000" dirty="0">
                <a:latin typeface="+mn-lt"/>
                <a:cs typeface="Arial" panose="020B0604020202020204" pitchFamily="34" charset="0"/>
              </a:rPr>
              <a:t>Dintre metodele testate: </a:t>
            </a:r>
            <a:r>
              <a:rPr lang="ro-RO" sz="3000" dirty="0" err="1">
                <a:latin typeface="+mn-lt"/>
                <a:cs typeface="Arial" panose="020B0604020202020204" pitchFamily="34" charset="0"/>
              </a:rPr>
              <a:t>custom</a:t>
            </a:r>
            <a:r>
              <a:rPr lang="ro-RO" sz="3000" dirty="0">
                <a:latin typeface="+mn-lt"/>
                <a:cs typeface="Arial" panose="020B0604020202020204" pitchFamily="34" charset="0"/>
              </a:rPr>
              <a:t> CNN și VGG16, modele cu rezultate pozitive, VGG16 a oferit o acuratețe superioară.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81515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1666592" y="18756571"/>
            <a:ext cx="8407576" cy="358293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000" dirty="0">
                <a:latin typeface="+mn-lt"/>
                <a:cs typeface="Arial" panose="020B0604020202020204" pitchFamily="34" charset="0"/>
              </a:rPr>
              <a:t>Metodologia propusă este bazată pe un set de date NASA, </a:t>
            </a:r>
            <a:r>
              <a:rPr lang="en-US" sz="3000" dirty="0">
                <a:latin typeface="+mn-lt"/>
                <a:cs typeface="Arial" panose="020B0604020202020204" pitchFamily="34" charset="0"/>
              </a:rPr>
              <a:t>care </a:t>
            </a:r>
            <a:r>
              <a:rPr lang="en-US" sz="3000" dirty="0" err="1">
                <a:latin typeface="+mn-lt"/>
                <a:cs typeface="Arial" panose="020B0604020202020204" pitchFamily="34" charset="0"/>
              </a:rPr>
              <a:t>este</a:t>
            </a:r>
            <a:r>
              <a:rPr lang="ro-RO" sz="3000" dirty="0">
                <a:latin typeface="+mn-lt"/>
                <a:cs typeface="Arial" panose="020B0604020202020204" pitchFamily="34" charset="0"/>
              </a:rPr>
              <a:t> format din </a:t>
            </a:r>
            <a:r>
              <a:rPr lang="ro-RO" sz="3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foldere</a:t>
            </a:r>
            <a:r>
              <a:rPr lang="ro-RO" sz="3000" dirty="0">
                <a:latin typeface="+mn-lt"/>
                <a:cs typeface="Arial" panose="020B0604020202020204" pitchFamily="34" charset="0"/>
              </a:rPr>
              <a:t> ce reprezintă mai multe zone ale soarelui.</a:t>
            </a:r>
          </a:p>
          <a:p>
            <a:pPr eaLnBrk="1" hangingPunct="1"/>
            <a:endParaRPr lang="ro-RO" sz="3000" dirty="0">
              <a:latin typeface="Calibri" pitchFamily="34" charset="0"/>
            </a:endParaRPr>
          </a:p>
          <a:p>
            <a:pPr eaLnBrk="1" hangingPunct="1"/>
            <a:r>
              <a:rPr lang="ro-RO" sz="3000" dirty="0">
                <a:latin typeface="Calibri" pitchFamily="34" charset="0"/>
              </a:rPr>
              <a:t> Fiecare imagine conține în denumirea sa codificarea datei și a orei la care poza a fost făcută, de unde reies</a:t>
            </a:r>
            <a:r>
              <a:rPr lang="en-US" sz="3000" dirty="0">
                <a:latin typeface="Calibri" pitchFamily="34" charset="0"/>
              </a:rPr>
              <a:t>e </a:t>
            </a:r>
            <a:r>
              <a:rPr lang="en-US" sz="3000" dirty="0" err="1">
                <a:latin typeface="Calibri" pitchFamily="34" charset="0"/>
              </a:rPr>
              <a:t>timpul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dirty="0" err="1">
                <a:latin typeface="Calibri" pitchFamily="34" charset="0"/>
              </a:rPr>
              <a:t>pana</a:t>
            </a:r>
            <a:r>
              <a:rPr lang="en-US" sz="3000" dirty="0">
                <a:latin typeface="Calibri" pitchFamily="34" charset="0"/>
              </a:rPr>
              <a:t> la </a:t>
            </a:r>
            <a:r>
              <a:rPr lang="en-US" sz="3000" dirty="0" err="1">
                <a:latin typeface="Calibri" pitchFamily="34" charset="0"/>
              </a:rPr>
              <a:t>eruptie</a:t>
            </a:r>
            <a:r>
              <a:rPr lang="ro-RO" sz="3000" dirty="0">
                <a:latin typeface="Calibri" pitchFamily="34" charset="0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99865" y="26661742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Arhitectura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92"/>
              <p:cNvSpPr txBox="1">
                <a:spLocks noChangeArrowheads="1"/>
              </p:cNvSpPr>
              <p:nvPr/>
            </p:nvSpPr>
            <p:spPr bwMode="auto">
              <a:xfrm>
                <a:off x="10929850" y="7132373"/>
                <a:ext cx="8407576" cy="81872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lIns="173940" tIns="173940" rIns="173940" bIns="173940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o-RO" sz="3000" dirty="0">
                    <a:latin typeface="Calibri" pitchFamily="34" charset="0"/>
                  </a:rPr>
                  <a:t>Cea mai optimă metodă identificată este rețeaua neuronală VGG16 cu o acuratețe de 98% </a:t>
                </a:r>
                <a:r>
                  <a:rPr lang="en-US" sz="3000" dirty="0" err="1">
                    <a:latin typeface="Calibri" pitchFamily="34" charset="0"/>
                  </a:rPr>
                  <a:t>respectiv</a:t>
                </a:r>
                <a:r>
                  <a:rPr lang="ro-RO" sz="3000" dirty="0">
                    <a:latin typeface="Calibri" pitchFamily="34" charset="0"/>
                  </a:rPr>
                  <a:t> 89% rezultate obținute prin folosirea a două zone(1102, 1066).</a:t>
                </a:r>
              </a:p>
              <a:p>
                <a:pPr eaLnBrk="1" hangingPunct="1"/>
                <a:endParaRPr lang="ro-RO" sz="3000" dirty="0">
                  <a:latin typeface="Calibri" pitchFamily="34" charset="0"/>
                </a:endParaRPr>
              </a:p>
              <a:p>
                <a:pPr eaLnBrk="1" hangingPunct="1"/>
                <a:r>
                  <a:rPr lang="ro-RO" sz="3000" dirty="0">
                    <a:latin typeface="Calibri" pitchFamily="34" charset="0"/>
                  </a:rPr>
                  <a:t>Proiectul abordează o problema de regresie liniară, întrucât variabila țintă este o valoare numerică continuă, reprezentată de timpul până la eveniment, spre deosebire de o problemă de clasificare abordată anterior </a:t>
                </a:r>
                <a:r>
                  <a:rPr lang="en-US" sz="3000" dirty="0">
                    <a:latin typeface="Calibri" pitchFamily="34" charset="0"/>
                  </a:rPr>
                  <a:t>pe</a:t>
                </a:r>
                <a:r>
                  <a:rPr lang="ro-RO" sz="3000" dirty="0">
                    <a:latin typeface="Calibri" pitchFamily="34" charset="0"/>
                  </a:rPr>
                  <a:t> dataset-ul SDOBenchmark.</a:t>
                </a:r>
              </a:p>
              <a:p>
                <a:pPr eaLnBrk="1" hangingPunct="1"/>
                <a:endParaRPr lang="ro-RO" sz="3000" dirty="0">
                  <a:latin typeface="Calibri" pitchFamily="34" charset="0"/>
                </a:endParaRPr>
              </a:p>
              <a:p>
                <a:pPr eaLnBrk="1" hangingPunct="1"/>
                <a:r>
                  <a:rPr lang="ro-RO" sz="3000" dirty="0">
                    <a:latin typeface="Calibri" pitchFamily="34" charset="0"/>
                  </a:rPr>
                  <a:t>Ca și metodologie de evaluare a rezultatelor </a:t>
                </a:r>
                <a:r>
                  <a:rPr lang="en-US" sz="3000" dirty="0" err="1">
                    <a:latin typeface="Calibri" pitchFamily="34" charset="0"/>
                  </a:rPr>
                  <a:t>avem</a:t>
                </a:r>
                <a:r>
                  <a:rPr lang="ro-RO" sz="3000" dirty="0">
                    <a:latin typeface="Calibri" pitchFamily="34" charset="0"/>
                  </a:rPr>
                  <a:t>:</a:t>
                </a:r>
              </a:p>
              <a:p>
                <a:pPr eaLnBrk="1" hangingPunct="1"/>
                <a:r>
                  <a:rPr lang="ro-RO" sz="3000" dirty="0">
                    <a:latin typeface="Calibri" pitchFamily="34" charset="0"/>
                  </a:rPr>
                  <a:t>RMSE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320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32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32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20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320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32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ro-RO" sz="3000" dirty="0">
                  <a:latin typeface="Calibri" pitchFamily="34" charset="0"/>
                </a:endParaRPr>
              </a:p>
              <a:p>
                <a:pPr eaLnBrk="1" hangingPunct="1"/>
                <a:r>
                  <a:rPr lang="ro-RO" sz="3000" dirty="0">
                    <a:latin typeface="Calibri" pitchFamily="34" charset="0"/>
                  </a:rPr>
                  <a:t>R2 =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num>
                      <m:den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den>
                    </m:f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3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3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i="1" dirty="0" err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3200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32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32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32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200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3200" i="1" dirty="0" err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3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3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3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i="1" dirty="0" err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3200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32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32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3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3000" dirty="0">
                  <a:latin typeface="Calibri" pitchFamily="34" charset="0"/>
                </a:endParaRPr>
              </a:p>
            </p:txBody>
          </p:sp>
        </mc:Choice>
        <mc:Fallback xmlns="">
          <p:sp>
            <p:nvSpPr>
              <p:cNvPr id="13" name="Text Box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29850" y="7132373"/>
                <a:ext cx="8407576" cy="8187205"/>
              </a:xfrm>
              <a:prstGeom prst="rect">
                <a:avLst/>
              </a:prstGeom>
              <a:blipFill>
                <a:blip r:embed="rId2"/>
                <a:stretch>
                  <a:fillRect l="-652"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10929850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Metode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20165606" y="7168347"/>
            <a:ext cx="8402677" cy="681458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 err="1">
                <a:latin typeface="Calibri" pitchFamily="34" charset="0"/>
              </a:rPr>
              <a:t>Rezultate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dirty="0" err="1">
                <a:latin typeface="Calibri" pitchFamily="34" charset="0"/>
              </a:rPr>
              <a:t>obtinute</a:t>
            </a:r>
            <a:r>
              <a:rPr lang="en-US" sz="3000" dirty="0">
                <a:latin typeface="Calibri" pitchFamily="34" charset="0"/>
              </a:rPr>
              <a:t> anterior cu dataset-ul SDO </a:t>
            </a:r>
            <a:r>
              <a:rPr lang="en-US" sz="3000" dirty="0" err="1">
                <a:latin typeface="Calibri" pitchFamily="34" charset="0"/>
              </a:rPr>
              <a:t>pentru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dirty="0" err="1">
                <a:latin typeface="Calibri" pitchFamily="34" charset="0"/>
              </a:rPr>
              <a:t>clasificare</a:t>
            </a:r>
            <a:r>
              <a:rPr lang="en-US" sz="3000" dirty="0">
                <a:latin typeface="Calibri" pitchFamily="34" charset="0"/>
              </a:rPr>
              <a:t>:</a:t>
            </a:r>
          </a:p>
          <a:p>
            <a:pPr marL="457200" indent="-457200" eaLnBrk="1" hangingPunct="1">
              <a:buFont typeface="Wingdings" panose="05000000000000000000" pitchFamily="2" charset="2"/>
              <a:buChar char="ü"/>
            </a:pPr>
            <a:r>
              <a:rPr lang="en-US" sz="3000" dirty="0" err="1">
                <a:latin typeface="Calibri" pitchFamily="34" charset="0"/>
              </a:rPr>
              <a:t>Acuratete</a:t>
            </a:r>
            <a:r>
              <a:rPr lang="en-US" sz="3000" dirty="0">
                <a:latin typeface="Calibri" pitchFamily="34" charset="0"/>
              </a:rPr>
              <a:t>:  55%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r>
              <a:rPr lang="ro-RO" sz="3000" dirty="0">
                <a:latin typeface="Calibri" pitchFamily="34" charset="0"/>
              </a:rPr>
              <a:t>Rezultate finale obținute</a:t>
            </a:r>
            <a:r>
              <a:rPr lang="en-US" sz="3000" dirty="0">
                <a:latin typeface="Calibri" pitchFamily="34" charset="0"/>
              </a:rPr>
              <a:t> cu dataset-ul NASA </a:t>
            </a:r>
            <a:r>
              <a:rPr lang="en-US" sz="3000" dirty="0" err="1">
                <a:latin typeface="Calibri" pitchFamily="34" charset="0"/>
              </a:rPr>
              <a:t>folosind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dirty="0" err="1">
                <a:latin typeface="Calibri" pitchFamily="34" charset="0"/>
              </a:rPr>
              <a:t>modelul</a:t>
            </a:r>
            <a:r>
              <a:rPr lang="en-US" sz="3000" dirty="0">
                <a:latin typeface="Calibri" pitchFamily="34" charset="0"/>
              </a:rPr>
              <a:t> VGG16 </a:t>
            </a:r>
            <a:r>
              <a:rPr lang="en-US" sz="3000" dirty="0" err="1">
                <a:latin typeface="Calibri" pitchFamily="34" charset="0"/>
              </a:rPr>
              <a:t>pentru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dirty="0" err="1">
                <a:latin typeface="Calibri" pitchFamily="34" charset="0"/>
              </a:rPr>
              <a:t>regresie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dirty="0" err="1">
                <a:latin typeface="Calibri" pitchFamily="34" charset="0"/>
              </a:rPr>
              <a:t>liniara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ro-RO" sz="3000" dirty="0">
                <a:latin typeface="Calibri" pitchFamily="34" charset="0"/>
              </a:rPr>
              <a:t> în funcție de cele două zone:</a:t>
            </a:r>
          </a:p>
          <a:p>
            <a:pPr marL="514350" indent="-514350" eaLnBrk="1" hangingPunct="1">
              <a:buFont typeface="Wingdings" panose="05000000000000000000" pitchFamily="2" charset="2"/>
              <a:buChar char="ü"/>
            </a:pPr>
            <a:r>
              <a:rPr lang="ro-RO" sz="3000" dirty="0">
                <a:latin typeface="Calibri" pitchFamily="34" charset="0"/>
              </a:rPr>
              <a:t>1066 : </a:t>
            </a:r>
            <a:endParaRPr lang="en-US" sz="3000" dirty="0">
              <a:latin typeface="Calibri" pitchFamily="34" charset="0"/>
            </a:endParaRP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R2 = 0.</a:t>
            </a:r>
            <a:r>
              <a:rPr lang="ro-RO" sz="3000" dirty="0">
                <a:latin typeface="Calibri" pitchFamily="34" charset="0"/>
              </a:rPr>
              <a:t>8</a:t>
            </a:r>
            <a:r>
              <a:rPr lang="en-US" sz="3000" dirty="0">
                <a:latin typeface="Calibri" pitchFamily="34" charset="0"/>
              </a:rPr>
              <a:t>9  </a:t>
            </a: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RMSE = 6418s ~ 106 min</a:t>
            </a:r>
            <a:endParaRPr lang="ro-RO" sz="3000" dirty="0">
              <a:latin typeface="Calibri" pitchFamily="34" charset="0"/>
            </a:endParaRPr>
          </a:p>
          <a:p>
            <a:pPr marL="514350" indent="-514350" eaLnBrk="1" hangingPunct="1">
              <a:buFont typeface="Wingdings" panose="05000000000000000000" pitchFamily="2" charset="2"/>
              <a:buChar char="ü"/>
            </a:pPr>
            <a:r>
              <a:rPr lang="ro-RO" sz="3000" dirty="0">
                <a:latin typeface="Calibri" pitchFamily="34" charset="0"/>
              </a:rPr>
              <a:t>1102: </a:t>
            </a:r>
            <a:r>
              <a:rPr lang="en-US" sz="3000" dirty="0">
                <a:latin typeface="Calibri" pitchFamily="34" charset="0"/>
              </a:rPr>
              <a:t> </a:t>
            </a:r>
          </a:p>
          <a:p>
            <a:pPr marL="1257300" lvl="1" indent="-51435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R2 = 0.98  </a:t>
            </a:r>
          </a:p>
          <a:p>
            <a:pPr marL="1200150" lvl="1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RMSE = 3290s ~ 55 min</a:t>
            </a:r>
            <a:endParaRPr lang="ro-RO" sz="3000" dirty="0">
              <a:latin typeface="Calibri" pitchFamily="34" charset="0"/>
            </a:endParaRPr>
          </a:p>
          <a:p>
            <a:pPr marL="514350" indent="-514350" eaLnBrk="1" hangingPunct="1">
              <a:buFont typeface="Wingdings" panose="05000000000000000000" pitchFamily="2" charset="2"/>
              <a:buChar char="ü"/>
            </a:pPr>
            <a:endParaRPr lang="ro-RO" sz="3000" dirty="0">
              <a:latin typeface="Calibri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165606" y="6255613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Rezultate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20495306" y="29768830"/>
            <a:ext cx="8407576" cy="542959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000" dirty="0">
                <a:latin typeface="Calibri" pitchFamily="34" charset="0"/>
              </a:rPr>
              <a:t>Limitări: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Calibri" pitchFamily="34" charset="0"/>
              </a:rPr>
              <a:t>imaginile provin din multe zone ale soarelui, de aici și incapacitatea modelului de a învăța eficient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Calibri" pitchFamily="34" charset="0"/>
              </a:rPr>
              <a:t>imaginile au puține caracteristici și detaliile sunt greu de distins </a:t>
            </a:r>
          </a:p>
          <a:p>
            <a:pPr eaLnBrk="1" hangingPunct="1"/>
            <a:endParaRPr lang="ro-RO" sz="3000" dirty="0">
              <a:latin typeface="Calibri" pitchFamily="34" charset="0"/>
            </a:endParaRPr>
          </a:p>
          <a:p>
            <a:pPr eaLnBrk="1" hangingPunct="1"/>
            <a:r>
              <a:rPr lang="ro-RO" sz="3000" dirty="0">
                <a:latin typeface="Calibri" pitchFamily="34" charset="0"/>
              </a:rPr>
              <a:t> În concluzie, am reușit să avem o acuratețe crescută în predicția erupțiilor folosind zone distincte ale soarelui.</a:t>
            </a:r>
          </a:p>
          <a:p>
            <a:pPr eaLnBrk="1" hangingPunct="1"/>
            <a:endParaRPr lang="ro-RO" sz="3000" dirty="0">
              <a:latin typeface="Calibri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0495306" y="28880887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Concluzii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44" name="Content Placeholder 114" descr="Sample table with 4 columns, 7 rows." title="Sample Table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9932044"/>
              </p:ext>
            </p:extLst>
          </p:nvPr>
        </p:nvGraphicFramePr>
        <p:xfrm>
          <a:off x="1745249" y="23091240"/>
          <a:ext cx="8432280" cy="77350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93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98627">
                <a:tc>
                  <a:txBody>
                    <a:bodyPr/>
                    <a:lstStyle/>
                    <a:p>
                      <a:pPr marL="0" marR="0" lvl="0" indent="0" algn="l" defTabSz="41745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o-RO" sz="3200" dirty="0"/>
                    </a:p>
                    <a:p>
                      <a:r>
                        <a:rPr lang="ro-RO" sz="3100" dirty="0" err="1"/>
                        <a:t>Eruption</a:t>
                      </a:r>
                      <a:r>
                        <a:rPr lang="ro-RO" sz="3100" dirty="0"/>
                        <a:t> code</a:t>
                      </a:r>
                      <a:endParaRPr lang="en-US" sz="3100" dirty="0"/>
                    </a:p>
                  </a:txBody>
                  <a:tcPr marL="84076" marR="84076" marT="44577" marB="44577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 err="1"/>
                        <a:t>Photo</a:t>
                      </a:r>
                      <a:r>
                        <a:rPr lang="ro-RO" sz="3100" dirty="0"/>
                        <a:t> </a:t>
                      </a:r>
                      <a:r>
                        <a:rPr lang="ro-RO" sz="3100" dirty="0" err="1"/>
                        <a:t>time</a:t>
                      </a:r>
                      <a:endParaRPr lang="en-US" sz="3100" dirty="0"/>
                    </a:p>
                  </a:txBody>
                  <a:tcPr marL="84076" marR="84076" marT="44577" marB="44577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 err="1"/>
                        <a:t>Euption</a:t>
                      </a:r>
                      <a:r>
                        <a:rPr lang="ro-RO" sz="3100" dirty="0"/>
                        <a:t> </a:t>
                      </a:r>
                      <a:r>
                        <a:rPr lang="ro-RO" sz="3100" dirty="0" err="1"/>
                        <a:t>time</a:t>
                      </a:r>
                      <a:endParaRPr lang="en-US" sz="3100" dirty="0"/>
                    </a:p>
                  </a:txBody>
                  <a:tcPr marL="84076" marR="84076" marT="44577" marB="44577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/>
                        <a:t>Time </a:t>
                      </a:r>
                      <a:r>
                        <a:rPr lang="ro-RO" sz="3100" dirty="0" err="1"/>
                        <a:t>difference</a:t>
                      </a:r>
                      <a:endParaRPr lang="en-US" sz="3100" dirty="0"/>
                    </a:p>
                  </a:txBody>
                  <a:tcPr marL="84076" marR="84076" marT="44577" marB="44577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4393">
                <a:tc>
                  <a:txBody>
                    <a:bodyPr/>
                    <a:lstStyle/>
                    <a:p>
                      <a:r>
                        <a:rPr lang="ro-RO" sz="3100" dirty="0"/>
                        <a:t>1066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>
                          <a:effectLst/>
                        </a:rPr>
                        <a:t>2010-05-03 00:00:00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2010-05-03 21:53:00</a:t>
                      </a:r>
                      <a:endParaRPr lang="ro-RO" sz="31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21:53:00</a:t>
                      </a:r>
                      <a:endParaRPr lang="ro-RO" sz="31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442">
                <a:tc>
                  <a:txBody>
                    <a:bodyPr/>
                    <a:lstStyle/>
                    <a:p>
                      <a:r>
                        <a:rPr lang="ro-RO" sz="3100" dirty="0"/>
                        <a:t>1066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2010-05-03 00:12:00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2010-05-03 21:53:00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21:41:00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393">
                <a:tc>
                  <a:txBody>
                    <a:bodyPr/>
                    <a:lstStyle/>
                    <a:p>
                      <a:r>
                        <a:rPr lang="ro-RO" sz="3100" dirty="0"/>
                        <a:t>1066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>
                          <a:effectLst/>
                        </a:rPr>
                        <a:t>2010-05-03 01:24:00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2010-05-03 21:53:00</a:t>
                      </a:r>
                      <a:endParaRPr lang="ro-RO" sz="31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20:29:00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4393">
                <a:tc>
                  <a:txBody>
                    <a:bodyPr/>
                    <a:lstStyle/>
                    <a:p>
                      <a:r>
                        <a:rPr lang="ro-RO" sz="3100" dirty="0"/>
                        <a:t>1102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>
                          <a:effectLst/>
                        </a:rPr>
                        <a:t>2010-08-30 00:24:00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745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3100" dirty="0">
                          <a:effectLst/>
                        </a:rPr>
                        <a:t>2010-08-30 15:22:00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14:58:00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4393">
                <a:tc>
                  <a:txBody>
                    <a:bodyPr/>
                    <a:lstStyle/>
                    <a:p>
                      <a:r>
                        <a:rPr lang="ro-RO" sz="3100" dirty="0"/>
                        <a:t>1102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>
                          <a:effectLst/>
                        </a:rPr>
                        <a:t>2010-08-30 00:12:00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745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3100" dirty="0">
                          <a:effectLst/>
                        </a:rPr>
                        <a:t>2010-08-30 15:22:00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>
                          <a:effectLst/>
                        </a:rPr>
                        <a:t> 15:10:00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4393">
                <a:tc>
                  <a:txBody>
                    <a:bodyPr/>
                    <a:lstStyle/>
                    <a:p>
                      <a:r>
                        <a:rPr lang="ro-RO" sz="3100" dirty="0"/>
                        <a:t>1102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2010-08-30 00:00:00</a:t>
                      </a:r>
                      <a:endParaRPr lang="en-US" sz="3100" dirty="0"/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marL="0" marR="0" lvl="0" indent="0" algn="ctr" defTabSz="41745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3100" dirty="0">
                          <a:effectLst/>
                        </a:rPr>
                        <a:t>2010-08-30 15:22:00</a:t>
                      </a:r>
                    </a:p>
                  </a:txBody>
                  <a:tcPr marL="84076" marR="84076" marT="44577" marB="44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3100" dirty="0">
                          <a:effectLst/>
                        </a:rPr>
                        <a:t>15:22:00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0999865" y="27553289"/>
            <a:ext cx="8407576" cy="404459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000" dirty="0">
                <a:latin typeface="+mn-lt"/>
                <a:cs typeface="Arial" panose="020B0604020202020204" pitchFamily="34" charset="0"/>
              </a:rPr>
              <a:t>Ca și arhitectură am folosit VGG16  </a:t>
            </a:r>
            <a:r>
              <a:rPr lang="ro-RO" sz="3000" dirty="0" err="1">
                <a:latin typeface="+mn-lt"/>
                <a:cs typeface="Arial" panose="020B0604020202020204" pitchFamily="34" charset="0"/>
              </a:rPr>
              <a:t>preantrenat</a:t>
            </a:r>
            <a:r>
              <a:rPr lang="ro-RO" sz="3000" dirty="0">
                <a:latin typeface="+mn-lt"/>
                <a:cs typeface="Arial" panose="020B0604020202020204" pitchFamily="34" charset="0"/>
              </a:rPr>
              <a:t> pe </a:t>
            </a:r>
            <a:r>
              <a:rPr lang="ro-RO" sz="3000" dirty="0" err="1">
                <a:latin typeface="+mn-lt"/>
                <a:cs typeface="Arial" panose="020B0604020202020204" pitchFamily="34" charset="0"/>
              </a:rPr>
              <a:t>ImageNet</a:t>
            </a:r>
            <a:r>
              <a:rPr lang="ro-RO" sz="3000" dirty="0">
                <a:latin typeface="+mn-lt"/>
                <a:cs typeface="Arial" panose="020B0604020202020204" pitchFamily="34" charset="0"/>
              </a:rPr>
              <a:t> cu care am făcut transfer </a:t>
            </a:r>
            <a:r>
              <a:rPr lang="ro-RO" sz="3000" dirty="0" err="1">
                <a:latin typeface="+mn-lt"/>
                <a:cs typeface="Arial" panose="020B0604020202020204" pitchFamily="34" charset="0"/>
              </a:rPr>
              <a:t>learning</a:t>
            </a:r>
            <a:r>
              <a:rPr lang="ro-RO" sz="3000" dirty="0">
                <a:latin typeface="+mn-lt"/>
                <a:cs typeface="Arial" panose="020B0604020202020204" pitchFamily="34" charset="0"/>
              </a:rPr>
              <a:t> astfel:</a:t>
            </a:r>
          </a:p>
          <a:p>
            <a:pPr eaLnBrk="1" hangingPunct="1"/>
            <a:endParaRPr lang="ro-RO" sz="3000" dirty="0">
              <a:latin typeface="+mn-lt"/>
              <a:cs typeface="Arial" panose="020B0604020202020204" pitchFamily="34" charset="0"/>
            </a:endParaRP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+mn-lt"/>
                <a:cs typeface="Arial" panose="020B0604020202020204" pitchFamily="34" charset="0"/>
              </a:rPr>
              <a:t>am înghețat toate blocurile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+mn-lt"/>
                <a:cs typeface="Arial" panose="020B0604020202020204" pitchFamily="34" charset="0"/>
              </a:rPr>
              <a:t>antrenare bloc 1 (învățare trăsături generale)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+mn-lt"/>
                <a:cs typeface="Arial" panose="020B0604020202020204" pitchFamily="34" charset="0"/>
              </a:rPr>
              <a:t>antrenare bloc 4,5 (învățare trăsături complexe)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ro-RO" sz="3000" dirty="0">
                <a:latin typeface="+mn-lt"/>
                <a:cs typeface="Arial" panose="020B0604020202020204" pitchFamily="34" charset="0"/>
              </a:rPr>
              <a:t>adăugare  straturi specifice regresiei(linear </a:t>
            </a:r>
            <a:r>
              <a:rPr lang="ro-RO" sz="3000" dirty="0" err="1">
                <a:latin typeface="+mn-lt"/>
                <a:cs typeface="Arial" panose="020B0604020202020204" pitchFamily="34" charset="0"/>
              </a:rPr>
              <a:t>activation</a:t>
            </a:r>
            <a:r>
              <a:rPr lang="ro-RO" sz="3000" dirty="0">
                <a:latin typeface="+mn-lt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66592" y="1784750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Set de date</a:t>
            </a:r>
            <a:endParaRPr lang="en-US" sz="5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1" name="Text Box 180"/>
          <p:cNvSpPr txBox="1">
            <a:spLocks noChangeArrowheads="1"/>
          </p:cNvSpPr>
          <p:nvPr/>
        </p:nvSpPr>
        <p:spPr bwMode="auto">
          <a:xfrm>
            <a:off x="1681515" y="16585124"/>
            <a:ext cx="4382688" cy="518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dirty="0">
                <a:latin typeface="Calibri" pitchFamily="34" charset="0"/>
              </a:rPr>
              <a:t>Imagine</a:t>
            </a:r>
            <a:r>
              <a:rPr lang="en-US" sz="2800" b="1" dirty="0">
                <a:latin typeface="Calibri" pitchFamily="34" charset="0"/>
              </a:rPr>
              <a:t> NASA</a:t>
            </a:r>
            <a:r>
              <a:rPr lang="ro-RO" sz="2800" b="1" dirty="0">
                <a:latin typeface="Calibri" pitchFamily="34" charset="0"/>
              </a:rPr>
              <a:t> dataset 1102 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52" name="Text Box 181"/>
          <p:cNvSpPr txBox="1">
            <a:spLocks noChangeArrowheads="1"/>
          </p:cNvSpPr>
          <p:nvPr/>
        </p:nvSpPr>
        <p:spPr bwMode="auto">
          <a:xfrm>
            <a:off x="6719949" y="16613004"/>
            <a:ext cx="3369142" cy="518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dirty="0">
                <a:latin typeface="Calibri" pitchFamily="34" charset="0"/>
              </a:rPr>
              <a:t>I</a:t>
            </a:r>
            <a:r>
              <a:rPr lang="en-US" sz="2800" b="1" dirty="0" err="1">
                <a:latin typeface="Calibri" pitchFamily="34" charset="0"/>
              </a:rPr>
              <a:t>magine</a:t>
            </a:r>
            <a:r>
              <a:rPr lang="en-US" sz="2800" b="1" dirty="0">
                <a:latin typeface="Calibri" pitchFamily="34" charset="0"/>
              </a:rPr>
              <a:t> SDO dataset</a:t>
            </a:r>
            <a:r>
              <a:rPr lang="ro-RO" sz="2800" b="1" dirty="0">
                <a:latin typeface="Calibri" pitchFamily="34" charset="0"/>
              </a:rPr>
              <a:t> </a:t>
            </a:r>
            <a:endParaRPr lang="en-US" sz="2800" dirty="0">
              <a:latin typeface="Calibri" pitchFamily="34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67746995"/>
              </p:ext>
            </p:extLst>
          </p:nvPr>
        </p:nvGraphicFramePr>
        <p:xfrm>
          <a:off x="11130607" y="16585125"/>
          <a:ext cx="8407576" cy="9721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Rectangle 265"/>
          <p:cNvSpPr>
            <a:spLocks noChangeAspect="1" noChangeArrowheads="1"/>
          </p:cNvSpPr>
          <p:nvPr/>
        </p:nvSpPr>
        <p:spPr bwMode="auto">
          <a:xfrm>
            <a:off x="840758" y="1515630"/>
            <a:ext cx="2688303" cy="2139712"/>
          </a:xfrm>
          <a:prstGeom prst="rect">
            <a:avLst/>
          </a:prstGeom>
          <a:blipFill dpi="0" rotWithShape="1">
            <a:blip r:embed="rId4">
              <a:lum bright="70000" contrast="-70000"/>
            </a:blip>
            <a:srcRect/>
            <a:stretch>
              <a:fillRect r="-79"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9717" tIns="39858" rIns="79717" bIns="39858" anchor="ctr"/>
          <a:lstStyle/>
          <a:p>
            <a:pPr algn="ctr" defTabSz="3826073"/>
            <a:r>
              <a:rPr lang="en-US" sz="1900" b="1" dirty="0">
                <a:latin typeface="Calibri" pitchFamily="34" charset="0"/>
              </a:rPr>
              <a:t>REPLACE THIS BOX WITH YOUR ORGANIZATION’S</a:t>
            </a:r>
          </a:p>
          <a:p>
            <a:pPr algn="ctr" defTabSz="3826073"/>
            <a:r>
              <a:rPr lang="en-US" sz="1900" b="1" dirty="0">
                <a:latin typeface="Calibri" pitchFamily="34" charset="0"/>
              </a:rPr>
              <a:t>HIGH RESOLUTION LOGO</a:t>
            </a:r>
          </a:p>
        </p:txBody>
      </p:sp>
      <p:sp>
        <p:nvSpPr>
          <p:cNvPr id="31" name="Rectangle 265"/>
          <p:cNvSpPr>
            <a:spLocks noChangeAspect="1" noChangeArrowheads="1"/>
          </p:cNvSpPr>
          <p:nvPr/>
        </p:nvSpPr>
        <p:spPr bwMode="auto">
          <a:xfrm>
            <a:off x="26736094" y="1515630"/>
            <a:ext cx="2688304" cy="2139712"/>
          </a:xfrm>
          <a:prstGeom prst="rect">
            <a:avLst/>
          </a:prstGeom>
          <a:blipFill dpi="0" rotWithShape="1">
            <a:blip r:embed="rId4">
              <a:lum bright="70000" contrast="-70000"/>
            </a:blip>
            <a:srcRect/>
            <a:stretch>
              <a:fillRect r="-79"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9717" tIns="39858" rIns="79717" bIns="39858" anchor="ctr"/>
          <a:lstStyle/>
          <a:p>
            <a:pPr algn="ctr" defTabSz="3826073"/>
            <a:r>
              <a:rPr lang="en-US" sz="1900" b="1" dirty="0">
                <a:latin typeface="Calibri" pitchFamily="34" charset="0"/>
              </a:rPr>
              <a:t>REPLACE THIS BOX WITH YOUR ORGANIZATION’S</a:t>
            </a:r>
          </a:p>
          <a:p>
            <a:pPr algn="ctr" defTabSz="3826073"/>
            <a:r>
              <a:rPr lang="en-US" sz="1900" b="1" dirty="0">
                <a:latin typeface="Calibri" pitchFamily="34" charset="0"/>
              </a:rPr>
              <a:t>HIGH RESOLUTION LOGO</a:t>
            </a:r>
          </a:p>
        </p:txBody>
      </p:sp>
      <p:pic>
        <p:nvPicPr>
          <p:cNvPr id="16" name="Imagine 15">
            <a:extLst>
              <a:ext uri="{FF2B5EF4-FFF2-40B4-BE49-F238E27FC236}">
                <a16:creationId xmlns:a16="http://schemas.microsoft.com/office/drawing/2014/main" id="{2A5F6AC8-21C4-C605-A0FC-C144216365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37" y="997984"/>
            <a:ext cx="3993513" cy="3689659"/>
          </a:xfrm>
          <a:prstGeom prst="rect">
            <a:avLst/>
          </a:prstGeom>
        </p:spPr>
      </p:pic>
      <p:pic>
        <p:nvPicPr>
          <p:cNvPr id="17" name="Imagine 16">
            <a:extLst>
              <a:ext uri="{FF2B5EF4-FFF2-40B4-BE49-F238E27FC236}">
                <a16:creationId xmlns:a16="http://schemas.microsoft.com/office/drawing/2014/main" id="{5519A2D8-02FE-1F44-B148-C0AE51C96D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2486" y="997984"/>
            <a:ext cx="3993513" cy="3689659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759657CE-9A39-09BD-23E8-A6A5D0C6EA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978" y="13640011"/>
            <a:ext cx="3809738" cy="2674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681D4E-2454-3F3D-C8EE-67D4DF622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00881"/>
            <a:ext cx="302672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$RMSE = \sqrt{\frac{\sum (\text{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Prezis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} - \text{Real})^2}{n}}$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8563C9-D3C8-15AF-9413-7548785F5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" y="-700881"/>
            <a:ext cx="302672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$$RMSE = \sqrt{\frac{\sum_{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=1}^{n} (\hat{y}_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y_i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)^2}{n}}$$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81B75B-4295-3740-2459-B5884BCD1C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1890" y="14471212"/>
            <a:ext cx="9373908" cy="59158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EF9186-5FF6-F52E-48D7-A6DE368899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663" y="21458825"/>
            <a:ext cx="9364382" cy="59920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674CB13-BC24-238D-74F8-3DDF85A338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626" y="13641183"/>
            <a:ext cx="2672296" cy="26722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09099E4-B383-A70F-8F88-AA0E232E36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437" y="31717849"/>
            <a:ext cx="14680596" cy="5691369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FC5E67F3-315C-65C3-0476-EA3C94BA0385}"/>
              </a:ext>
            </a:extLst>
          </p:cNvPr>
          <p:cNvSpPr txBox="1"/>
          <p:nvPr/>
        </p:nvSpPr>
        <p:spPr>
          <a:xfrm>
            <a:off x="12923837" y="15675028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dirty="0"/>
              <a:t>Rezultate antrenare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9BC3E-1518-C121-9402-93A3B84F0D94}"/>
              </a:ext>
            </a:extLst>
          </p:cNvPr>
          <p:cNvSpPr txBox="1"/>
          <p:nvPr/>
        </p:nvSpPr>
        <p:spPr>
          <a:xfrm>
            <a:off x="7095225" y="31544973"/>
            <a:ext cx="388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Custom VGG16</a:t>
            </a:r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</TotalTime>
  <Words>647</Words>
  <Application>Microsoft Office PowerPoint</Application>
  <PresentationFormat>Custom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-apple-system</vt:lpstr>
      <vt:lpstr>Arial</vt:lpstr>
      <vt:lpstr>Calibri</vt:lpstr>
      <vt:lpstr>Cambria Math</vt:lpstr>
      <vt:lpstr>Google Sans Text</vt:lpstr>
      <vt:lpstr>Lucida Grande</vt:lpstr>
      <vt:lpstr>Wingdings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Teodor Aparaschivei</cp:lastModifiedBy>
  <cp:revision>77</cp:revision>
  <cp:lastPrinted>2013-02-12T02:21:55Z</cp:lastPrinted>
  <dcterms:created xsi:type="dcterms:W3CDTF">2013-02-10T21:14:48Z</dcterms:created>
  <dcterms:modified xsi:type="dcterms:W3CDTF">2026-01-14T15:10:13Z</dcterms:modified>
</cp:coreProperties>
</file>