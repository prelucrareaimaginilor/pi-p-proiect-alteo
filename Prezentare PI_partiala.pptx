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8288000" cy="10287000"/>
  <p:notesSz cx="7559675" cy="10691813"/>
  <p:embeddedFontLst>
    <p:embeddedFont>
      <p:font typeface="Space Mono" panose="020B0604020202020204" charset="0"/>
      <p:regular r:id="rId9"/>
      <p:bold r:id="rId10"/>
      <p:italic r:id="rId1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2" d="100"/>
          <a:sy n="52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CADE5E2-890F-45F7-971F-6CA9851577C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t">
            <a:noAutofit/>
          </a:bodyPr>
          <a:lstStyle/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B569C78-86FF-465B-A341-DBA0148C834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ctr">
            <a:noAutofit/>
          </a:bodyPr>
          <a:lstStyle/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t">
            <a:noAutofit/>
          </a:bodyPr>
          <a:lstStyle/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3476F95-2D64-40D8-A574-F6AD35D1026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56F5A94-3ED3-442E-97C8-0F04869BC11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 Head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9144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5529BCF-3D53-426D-B3FC-4868BE0E80B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743040" lvl="1" indent="-28584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743040" lvl="1" indent="-28584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67A4E93-D3EC-4354-BED8-7A90B1C15D2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mparis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743040" lvl="1" indent="-28584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743040" lvl="1" indent="-28584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125800C-CEA6-43EE-AB73-1D41287A62D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1DB8F2C-6144-4744-A91B-EDAA010C848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601DBBA-E4EB-4865-8BAD-E3330BBFBA4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ntent with Capti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945B5FC-20DD-4FF4-B8DB-280BF615345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icture with Capti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1982716-73E8-4288-AFC8-64138397C13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Freeform 2"/>
          <p:cNvSpPr/>
          <p:nvPr/>
        </p:nvSpPr>
        <p:spPr>
          <a:xfrm>
            <a:off x="12700" y="360"/>
            <a:ext cx="18287640" cy="10286640"/>
          </a:xfrm>
          <a:custGeom>
            <a:avLst/>
            <a:gdLst>
              <a:gd name="textAreaLeft" fmla="*/ 0 w 18287640"/>
              <a:gd name="textAreaRight" fmla="*/ 18288000 w 18287640"/>
              <a:gd name="textAreaTop" fmla="*/ 0 h 10286640"/>
              <a:gd name="textAreaBottom" fmla="*/ 10287000 h 10286640"/>
            </a:gdLst>
            <a:ahLst/>
            <a:cxnLst/>
            <a:rect l="textAreaLeft" t="textAreaTop" r="textAreaRight" b="textAreaBottom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Freeform 4"/>
          <p:cNvSpPr/>
          <p:nvPr/>
        </p:nvSpPr>
        <p:spPr>
          <a:xfrm>
            <a:off x="0" y="0"/>
            <a:ext cx="3524400" cy="1501200"/>
          </a:xfrm>
          <a:custGeom>
            <a:avLst/>
            <a:gdLst>
              <a:gd name="textAreaLeft" fmla="*/ 0 w 3524400"/>
              <a:gd name="textAreaRight" fmla="*/ 3524760 w 3524400"/>
              <a:gd name="textAreaTop" fmla="*/ 0 h 1501200"/>
              <a:gd name="textAreaBottom" fmla="*/ 1501560 h 1501200"/>
            </a:gdLst>
            <a:ahLst/>
            <a:cxnLst/>
            <a:rect l="textAreaLeft" t="textAreaTop" r="textAreaRight" b="textAreaBottom"/>
            <a:pathLst>
              <a:path w="3524878" h="1501584">
                <a:moveTo>
                  <a:pt x="0" y="0"/>
                </a:moveTo>
                <a:lnTo>
                  <a:pt x="3524878" y="0"/>
                </a:lnTo>
                <a:lnTo>
                  <a:pt x="3524878" y="1501584"/>
                </a:lnTo>
                <a:lnTo>
                  <a:pt x="0" y="1501584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TextBox 5"/>
          <p:cNvSpPr/>
          <p:nvPr/>
        </p:nvSpPr>
        <p:spPr>
          <a:xfrm>
            <a:off x="3524400" y="6526288"/>
            <a:ext cx="11322720" cy="192341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914400">
              <a:lnSpc>
                <a:spcPts val="7690"/>
              </a:lnSpc>
            </a:pPr>
            <a:r>
              <a:rPr lang="en-US" sz="5490" b="1" dirty="0" err="1">
                <a:solidFill>
                  <a:srgbClr val="FFFFFF"/>
                </a:solidFill>
                <a:latin typeface="Space Mono Bold"/>
              </a:rPr>
              <a:t>Predictia</a:t>
            </a:r>
            <a:r>
              <a:rPr lang="en-US" sz="5490" b="1" dirty="0">
                <a:solidFill>
                  <a:srgbClr val="FFFFFF"/>
                </a:solidFill>
                <a:latin typeface="Space Mono Bold"/>
              </a:rPr>
              <a:t> </a:t>
            </a:r>
            <a:r>
              <a:rPr lang="en-US" sz="5490" b="1" dirty="0" err="1">
                <a:solidFill>
                  <a:srgbClr val="FFFFFF"/>
                </a:solidFill>
                <a:latin typeface="Space Mono Bold"/>
              </a:rPr>
              <a:t>eruptiilor</a:t>
            </a:r>
            <a:r>
              <a:rPr lang="en-US" sz="5490" b="1" dirty="0">
                <a:solidFill>
                  <a:srgbClr val="FFFFFF"/>
                </a:solidFill>
                <a:latin typeface="Space Mono Bold"/>
              </a:rPr>
              <a:t> </a:t>
            </a:r>
            <a:r>
              <a:rPr lang="en-US" sz="5490" b="1" dirty="0" err="1">
                <a:solidFill>
                  <a:srgbClr val="FFFFFF"/>
                </a:solidFill>
                <a:latin typeface="Space Mono Bold"/>
              </a:rPr>
              <a:t>solare</a:t>
            </a:r>
            <a:endParaRPr lang="en-US" sz="549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TextBox 6"/>
          <p:cNvSpPr/>
          <p:nvPr/>
        </p:nvSpPr>
        <p:spPr>
          <a:xfrm>
            <a:off x="11202120" y="8500680"/>
            <a:ext cx="7085520" cy="1500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914400">
              <a:lnSpc>
                <a:spcPts val="6009"/>
              </a:lnSpc>
            </a:pPr>
            <a:r>
              <a:rPr lang="en-US" sz="4290" b="1" dirty="0">
                <a:solidFill>
                  <a:srgbClr val="FFFFFF"/>
                </a:solidFill>
                <a:latin typeface="Space Mono Bold"/>
              </a:rPr>
              <a:t>Aparaschivei Teodor</a:t>
            </a:r>
            <a:endParaRPr lang="en-US" sz="429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ts val="6009"/>
              </a:lnSpc>
            </a:pPr>
            <a:r>
              <a:rPr lang="en-US" sz="4290" b="1" dirty="0" err="1">
                <a:solidFill>
                  <a:srgbClr val="FFFFFF"/>
                </a:solidFill>
                <a:latin typeface="Space Mono Bold"/>
              </a:rPr>
              <a:t>Marguta</a:t>
            </a:r>
            <a:r>
              <a:rPr lang="en-US" sz="4290" b="1">
                <a:solidFill>
                  <a:srgbClr val="FFFFFF"/>
                </a:solidFill>
                <a:latin typeface="Space Mono Bold"/>
              </a:rPr>
              <a:t> Dan-Alexandru</a:t>
            </a:r>
            <a:endParaRPr lang="en-US" sz="429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A16347C-FB51-6D64-B015-AE935DF5DC0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32042" y="-101600"/>
            <a:ext cx="2968298" cy="1092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Freeform 3"/>
          <p:cNvSpPr/>
          <p:nvPr/>
        </p:nvSpPr>
        <p:spPr>
          <a:xfrm>
            <a:off x="61560" y="0"/>
            <a:ext cx="2255400" cy="960480"/>
          </a:xfrm>
          <a:custGeom>
            <a:avLst/>
            <a:gdLst>
              <a:gd name="textAreaLeft" fmla="*/ 0 w 2255400"/>
              <a:gd name="textAreaRight" fmla="*/ 2255760 w 2255400"/>
              <a:gd name="textAreaTop" fmla="*/ 0 h 960480"/>
              <a:gd name="textAreaBottom" fmla="*/ 960840 h 960480"/>
            </a:gdLst>
            <a:ahLst/>
            <a:cxnLst/>
            <a:rect l="textAreaLeft" t="textAreaTop" r="textAreaRight" b="textAreaBottom"/>
            <a:pathLst>
              <a:path w="2255738" h="960936">
                <a:moveTo>
                  <a:pt x="0" y="0"/>
                </a:moveTo>
                <a:lnTo>
                  <a:pt x="2255738" y="0"/>
                </a:lnTo>
                <a:lnTo>
                  <a:pt x="2255738" y="960936"/>
                </a:lnTo>
                <a:lnTo>
                  <a:pt x="0" y="960936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TextBox 4"/>
          <p:cNvSpPr/>
          <p:nvPr/>
        </p:nvSpPr>
        <p:spPr>
          <a:xfrm>
            <a:off x="61560" y="9686520"/>
            <a:ext cx="18226080" cy="533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914400">
              <a:lnSpc>
                <a:spcPts val="4201"/>
              </a:lnSpc>
            </a:pPr>
            <a:r>
              <a:rPr lang="en-US" sz="3000" b="1" u="none" strike="noStrike">
                <a:solidFill>
                  <a:srgbClr val="A6B5C2"/>
                </a:solidFill>
                <a:effectLst/>
                <a:uFillTx/>
                <a:latin typeface="Space Mono Bold"/>
                <a:ea typeface="Space Mono Bold"/>
              </a:rPr>
              <a:t>Prelucrarea Imaginilor - Proiect, 2025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Box 5"/>
          <p:cNvSpPr/>
          <p:nvPr/>
        </p:nvSpPr>
        <p:spPr>
          <a:xfrm>
            <a:off x="0" y="1009800"/>
            <a:ext cx="11011320" cy="10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ts val="8399"/>
              </a:lnSpc>
            </a:pPr>
            <a:r>
              <a:rPr lang="en-US" sz="6000" b="1" u="none" strike="noStrike">
                <a:solidFill>
                  <a:srgbClr val="2E5375"/>
                </a:solidFill>
                <a:effectLst/>
                <a:uFillTx/>
                <a:latin typeface="Space Mono Bold"/>
                <a:ea typeface="Space Mono Bold"/>
              </a:rPr>
              <a:t>1. Context &amp; Motivație</a:t>
            </a:r>
            <a:endParaRPr lang="en-US" sz="6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Box 6"/>
          <p:cNvSpPr/>
          <p:nvPr/>
        </p:nvSpPr>
        <p:spPr>
          <a:xfrm>
            <a:off x="571680" y="2242800"/>
            <a:ext cx="17203320" cy="7758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marL="734040" lvl="1" indent="-367200" defTabSz="914400">
              <a:lnSpc>
                <a:spcPts val="4759"/>
              </a:lnSpc>
              <a:buClr>
                <a:srgbClr val="000000"/>
              </a:buClr>
              <a:buFont typeface="Arial"/>
              <a:buChar char="•"/>
            </a:pPr>
            <a:r>
              <a:rPr lang="en-US" sz="3400" b="1" u="none" strike="noStrike">
                <a:solidFill>
                  <a:srgbClr val="000000"/>
                </a:solidFill>
                <a:effectLst/>
                <a:uFillTx/>
                <a:latin typeface="Space Mono Bold"/>
                <a:ea typeface="Space Mono Bold"/>
              </a:rPr>
              <a:t>Context:</a:t>
            </a:r>
            <a:r>
              <a:rPr lang="en-US" sz="3400" b="0" u="none" strike="noStrike">
                <a:solidFill>
                  <a:srgbClr val="000000"/>
                </a:solidFill>
                <a:effectLst/>
                <a:uFillTx/>
                <a:latin typeface="Space Mono"/>
                <a:ea typeface="Space Mono"/>
              </a:rPr>
              <a:t> Explicați problema generală din domeniul prelucrării imaginilor pe care proiectul vostru o adresează.</a:t>
            </a:r>
            <a:endParaRPr lang="en-US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34040" lvl="1" indent="-367200" defTabSz="914400">
              <a:lnSpc>
                <a:spcPts val="4759"/>
              </a:lnSpc>
              <a:buClr>
                <a:srgbClr val="000000"/>
              </a:buClr>
              <a:buFont typeface="Arial"/>
              <a:buChar char="•"/>
            </a:pPr>
            <a:r>
              <a:rPr lang="en-US" sz="3400" b="1" u="none" strike="noStrike">
                <a:solidFill>
                  <a:srgbClr val="000000"/>
                </a:solidFill>
                <a:effectLst/>
                <a:uFillTx/>
                <a:latin typeface="Space Mono Bold"/>
                <a:ea typeface="Space Mono Bold"/>
              </a:rPr>
              <a:t>Motivație:</a:t>
            </a:r>
            <a:r>
              <a:rPr lang="en-US" sz="3400" b="0" u="none" strike="noStrike">
                <a:solidFill>
                  <a:srgbClr val="000000"/>
                </a:solidFill>
                <a:effectLst/>
                <a:uFillTx/>
                <a:latin typeface="Space Mono"/>
                <a:ea typeface="Space Mono"/>
              </a:rPr>
              <a:t> De ce este importantă această problemă? Ce beneficii ar putea aduce o soluție?</a:t>
            </a:r>
            <a:endParaRPr lang="en-US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34040" lvl="1" indent="-367200" defTabSz="914400">
              <a:lnSpc>
                <a:spcPts val="4759"/>
              </a:lnSpc>
              <a:buClr>
                <a:srgbClr val="000000"/>
              </a:buClr>
              <a:buFont typeface="Arial"/>
              <a:buChar char="•"/>
            </a:pPr>
            <a:r>
              <a:rPr lang="en-US" sz="3400" b="1" u="none" strike="noStrike">
                <a:solidFill>
                  <a:srgbClr val="000000"/>
                </a:solidFill>
                <a:effectLst/>
                <a:uFillTx/>
                <a:latin typeface="Space Mono Bold"/>
                <a:ea typeface="Space Mono Bold"/>
              </a:rPr>
              <a:t>Obiectivul proiectului:</a:t>
            </a:r>
            <a:r>
              <a:rPr lang="en-US" sz="3400" b="0" u="none" strike="noStrike">
                <a:solidFill>
                  <a:srgbClr val="000000"/>
                </a:solidFill>
                <a:effectLst/>
                <a:uFillTx/>
                <a:latin typeface="Space Mono"/>
                <a:ea typeface="Space Mono"/>
              </a:rPr>
              <a:t> Formulați scopul general al proiectului într-o propoziție sau două</a:t>
            </a:r>
            <a:endParaRPr lang="en-US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4759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392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ts val="4059"/>
              </a:lnSpc>
            </a:pPr>
            <a:r>
              <a:rPr lang="en-US" sz="2900" b="0" i="1" u="none" strike="noStrike">
                <a:solidFill>
                  <a:srgbClr val="FF0000"/>
                </a:solidFill>
                <a:effectLst/>
                <a:uFillTx/>
                <a:latin typeface="Space Mono Italics"/>
                <a:ea typeface="Space Mono Italics"/>
              </a:rPr>
              <a:t>Scopul acestui slide este să ofere o introducere în tema abordată. Încercați să transmiteți audienței de ce este relevantă această problemă și de ce merită rezolvată.</a:t>
            </a:r>
            <a:endParaRPr lang="en-US" sz="2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ts val="4059"/>
              </a:lnSpc>
            </a:pPr>
            <a:r>
              <a:rPr lang="en-US" sz="2900" b="0" i="1" u="none" strike="noStrike">
                <a:solidFill>
                  <a:srgbClr val="FF0000"/>
                </a:solidFill>
                <a:effectLst/>
                <a:uFillTx/>
                <a:latin typeface="Space Mono Italics"/>
                <a:ea typeface="Space Mono Italics"/>
              </a:rPr>
              <a:t>Puteți ilustra contextul &amp; motivația printr-o imagine/serie de imagini pe baza căreia/cărora vă veți construi discursul.</a:t>
            </a:r>
            <a:endParaRPr lang="en-US" sz="2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ts val="4059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Box 7"/>
          <p:cNvSpPr/>
          <p:nvPr/>
        </p:nvSpPr>
        <p:spPr>
          <a:xfrm>
            <a:off x="0" y="-44280"/>
            <a:ext cx="18287640" cy="1110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914400">
              <a:lnSpc>
                <a:spcPts val="9099"/>
              </a:lnSpc>
            </a:pPr>
            <a:r>
              <a:rPr lang="en-US" sz="6500" b="1" u="none" strike="noStrike">
                <a:solidFill>
                  <a:srgbClr val="1C375A"/>
                </a:solidFill>
                <a:effectLst/>
                <a:uFillTx/>
                <a:latin typeface="Space Mono Bold"/>
                <a:ea typeface="Space Mono Bold"/>
              </a:rPr>
              <a:t>Titlu - Proiect</a:t>
            </a:r>
            <a:endParaRPr lang="en-US" sz="6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52295E6-A844-A718-723E-8DAAE46790B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43200" y="0"/>
            <a:ext cx="2783240" cy="87006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Freeform 3"/>
          <p:cNvSpPr/>
          <p:nvPr/>
        </p:nvSpPr>
        <p:spPr>
          <a:xfrm>
            <a:off x="61560" y="0"/>
            <a:ext cx="2255400" cy="960480"/>
          </a:xfrm>
          <a:custGeom>
            <a:avLst/>
            <a:gdLst>
              <a:gd name="textAreaLeft" fmla="*/ 0 w 2255400"/>
              <a:gd name="textAreaRight" fmla="*/ 2255760 w 2255400"/>
              <a:gd name="textAreaTop" fmla="*/ 0 h 960480"/>
              <a:gd name="textAreaBottom" fmla="*/ 960840 h 960480"/>
            </a:gdLst>
            <a:ahLst/>
            <a:cxnLst/>
            <a:rect l="textAreaLeft" t="textAreaTop" r="textAreaRight" b="textAreaBottom"/>
            <a:pathLst>
              <a:path w="2255738" h="960936">
                <a:moveTo>
                  <a:pt x="0" y="0"/>
                </a:moveTo>
                <a:lnTo>
                  <a:pt x="2255738" y="0"/>
                </a:lnTo>
                <a:lnTo>
                  <a:pt x="2255738" y="960936"/>
                </a:lnTo>
                <a:lnTo>
                  <a:pt x="0" y="960936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TextBox 4"/>
          <p:cNvSpPr/>
          <p:nvPr/>
        </p:nvSpPr>
        <p:spPr>
          <a:xfrm>
            <a:off x="0" y="-44280"/>
            <a:ext cx="18287640" cy="1110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914400">
              <a:lnSpc>
                <a:spcPts val="9099"/>
              </a:lnSpc>
            </a:pPr>
            <a:r>
              <a:rPr lang="en-US" sz="6500" b="1" u="none" strike="noStrike">
                <a:solidFill>
                  <a:srgbClr val="1C375A"/>
                </a:solidFill>
                <a:effectLst/>
                <a:uFillTx/>
                <a:latin typeface="Space Mono Bold"/>
                <a:ea typeface="Space Mono Bold"/>
              </a:rPr>
              <a:t>Titlu - Proiect</a:t>
            </a:r>
            <a:endParaRPr lang="en-US" sz="6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Box 5"/>
          <p:cNvSpPr/>
          <p:nvPr/>
        </p:nvSpPr>
        <p:spPr>
          <a:xfrm>
            <a:off x="61560" y="9686520"/>
            <a:ext cx="18226080" cy="533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914400">
              <a:lnSpc>
                <a:spcPts val="4201"/>
              </a:lnSpc>
            </a:pPr>
            <a:r>
              <a:rPr lang="en-US" sz="3000" b="1" u="none" strike="noStrike">
                <a:solidFill>
                  <a:srgbClr val="A6B5C2"/>
                </a:solidFill>
                <a:effectLst/>
                <a:uFillTx/>
                <a:latin typeface="Space Mono Bold"/>
                <a:ea typeface="Space Mono Bold"/>
              </a:rPr>
              <a:t>Prelucrarea Imaginilor - Proiect, 2025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TextBox 6"/>
          <p:cNvSpPr/>
          <p:nvPr/>
        </p:nvSpPr>
        <p:spPr>
          <a:xfrm>
            <a:off x="0" y="1009800"/>
            <a:ext cx="17775000" cy="10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ts val="8399"/>
              </a:lnSpc>
            </a:pPr>
            <a:r>
              <a:rPr lang="en-US" sz="6000" b="1" u="none" strike="noStrike">
                <a:solidFill>
                  <a:srgbClr val="2E5375"/>
                </a:solidFill>
                <a:effectLst/>
                <a:uFillTx/>
                <a:latin typeface="Space Mono Bold"/>
                <a:ea typeface="Space Mono Bold"/>
              </a:rPr>
              <a:t>2. Arhitectura preliminară a soluției</a:t>
            </a:r>
            <a:endParaRPr lang="en-US" sz="6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TextBox 7"/>
          <p:cNvSpPr/>
          <p:nvPr/>
        </p:nvSpPr>
        <p:spPr>
          <a:xfrm>
            <a:off x="571680" y="2242800"/>
            <a:ext cx="17203320" cy="7844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marL="734040" lvl="1" indent="-367200" defTabSz="914400">
              <a:lnSpc>
                <a:spcPts val="4759"/>
              </a:lnSpc>
              <a:buClr>
                <a:srgbClr val="000000"/>
              </a:buClr>
              <a:buFont typeface="Arial"/>
              <a:buChar char="•"/>
            </a:pPr>
            <a:r>
              <a:rPr lang="en-US" sz="3400" b="1" u="none" strike="noStrike">
                <a:solidFill>
                  <a:srgbClr val="000000"/>
                </a:solidFill>
                <a:effectLst/>
                <a:uFillTx/>
                <a:latin typeface="Space Mono Bold"/>
                <a:ea typeface="Space Mono Bold"/>
              </a:rPr>
              <a:t>Schema arhitecturii: </a:t>
            </a:r>
            <a:r>
              <a:rPr lang="en-US" sz="3400" b="0" u="none" strike="noStrike">
                <a:solidFill>
                  <a:srgbClr val="000000"/>
                </a:solidFill>
                <a:effectLst/>
                <a:uFillTx/>
                <a:latin typeface="Space Mono"/>
                <a:ea typeface="Space Mono"/>
              </a:rPr>
              <a:t>Includeți o diagramă a arhitecturii sistemului propus.</a:t>
            </a:r>
            <a:endParaRPr lang="en-US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34040" lvl="1" indent="-367200" defTabSz="914400">
              <a:lnSpc>
                <a:spcPts val="4759"/>
              </a:lnSpc>
              <a:buClr>
                <a:srgbClr val="000000"/>
              </a:buClr>
              <a:buFont typeface="Arial"/>
              <a:buChar char="•"/>
            </a:pPr>
            <a:r>
              <a:rPr lang="en-US" sz="3400" b="1" u="none" strike="noStrike">
                <a:solidFill>
                  <a:srgbClr val="000000"/>
                </a:solidFill>
                <a:effectLst/>
                <a:uFillTx/>
                <a:latin typeface="Space Mono Bold"/>
                <a:ea typeface="Space Mono Bold"/>
              </a:rPr>
              <a:t>Descrierea componentelor: </a:t>
            </a:r>
            <a:r>
              <a:rPr lang="en-US" sz="3400" b="0" u="none" strike="noStrike">
                <a:solidFill>
                  <a:srgbClr val="000000"/>
                </a:solidFill>
                <a:effectLst/>
                <a:uFillTx/>
                <a:latin typeface="Space Mono"/>
                <a:ea typeface="Space Mono"/>
              </a:rPr>
              <a:t>Explicați pe scurt fiecare componentă principală a soluției.</a:t>
            </a:r>
            <a:endParaRPr lang="en-US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34040" lvl="1" indent="-367200" defTabSz="914400">
              <a:lnSpc>
                <a:spcPts val="4759"/>
              </a:lnSpc>
              <a:buClr>
                <a:srgbClr val="000000"/>
              </a:buClr>
              <a:buFont typeface="Arial"/>
              <a:buChar char="•"/>
            </a:pPr>
            <a:r>
              <a:rPr lang="en-US" sz="3400" b="1" u="none" strike="noStrike">
                <a:solidFill>
                  <a:srgbClr val="000000"/>
                </a:solidFill>
                <a:effectLst/>
                <a:uFillTx/>
                <a:latin typeface="Space Mono Bold"/>
                <a:ea typeface="Space Mono Bold"/>
              </a:rPr>
              <a:t>Fluxul de date: </a:t>
            </a:r>
            <a:r>
              <a:rPr lang="en-US" sz="3400" b="0" u="none" strike="noStrike">
                <a:solidFill>
                  <a:srgbClr val="000000"/>
                </a:solidFill>
                <a:effectLst/>
                <a:uFillTx/>
                <a:latin typeface="Space Mono"/>
                <a:ea typeface="Space Mono"/>
              </a:rPr>
              <a:t>Dacă este relevant, indicați cum circulă datele între componente.</a:t>
            </a:r>
            <a:endParaRPr lang="en-US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4759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4759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392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ts val="4059"/>
              </a:lnSpc>
            </a:pPr>
            <a:r>
              <a:rPr lang="en-US" sz="2900" b="0" i="1" u="none" strike="noStrike">
                <a:solidFill>
                  <a:srgbClr val="FF0000"/>
                </a:solidFill>
                <a:effectLst/>
                <a:uFillTx/>
                <a:latin typeface="Space Mono Italics"/>
                <a:ea typeface="Space Mono Italics"/>
              </a:rPr>
              <a:t>Aici, trebuie să prezentați o vedere de ansamblu a soluției propuse. Este util să includeți o diagramă care să ajute audiența să înțeleagă structura proiectului și rolul fiecărei componente. Descrieți concis funcția fiecărui modul.</a:t>
            </a:r>
            <a:endParaRPr lang="en-US" sz="2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ts val="4059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F5C0652-39B1-EDA4-88AC-C710045E76F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43200" y="0"/>
            <a:ext cx="2783240" cy="87006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Freeform 3"/>
          <p:cNvSpPr/>
          <p:nvPr/>
        </p:nvSpPr>
        <p:spPr>
          <a:xfrm>
            <a:off x="61560" y="0"/>
            <a:ext cx="2255400" cy="960480"/>
          </a:xfrm>
          <a:custGeom>
            <a:avLst/>
            <a:gdLst>
              <a:gd name="textAreaLeft" fmla="*/ 0 w 2255400"/>
              <a:gd name="textAreaRight" fmla="*/ 2255760 w 2255400"/>
              <a:gd name="textAreaTop" fmla="*/ 0 h 960480"/>
              <a:gd name="textAreaBottom" fmla="*/ 960840 h 960480"/>
            </a:gdLst>
            <a:ahLst/>
            <a:cxnLst/>
            <a:rect l="textAreaLeft" t="textAreaTop" r="textAreaRight" b="textAreaBottom"/>
            <a:pathLst>
              <a:path w="2255738" h="960936">
                <a:moveTo>
                  <a:pt x="0" y="0"/>
                </a:moveTo>
                <a:lnTo>
                  <a:pt x="2255738" y="0"/>
                </a:lnTo>
                <a:lnTo>
                  <a:pt x="2255738" y="960936"/>
                </a:lnTo>
                <a:lnTo>
                  <a:pt x="0" y="960936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TextBox 4"/>
          <p:cNvSpPr/>
          <p:nvPr/>
        </p:nvSpPr>
        <p:spPr>
          <a:xfrm>
            <a:off x="0" y="-44280"/>
            <a:ext cx="18287640" cy="1110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914400">
              <a:lnSpc>
                <a:spcPts val="9099"/>
              </a:lnSpc>
            </a:pPr>
            <a:r>
              <a:rPr lang="en-US" sz="6500" b="1" u="none" strike="noStrike">
                <a:solidFill>
                  <a:srgbClr val="1C375A"/>
                </a:solidFill>
                <a:effectLst/>
                <a:uFillTx/>
                <a:latin typeface="Space Mono Bold"/>
                <a:ea typeface="Space Mono Bold"/>
              </a:rPr>
              <a:t>Titlu - Proiect</a:t>
            </a:r>
            <a:endParaRPr lang="en-US" sz="6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TextBox 5"/>
          <p:cNvSpPr/>
          <p:nvPr/>
        </p:nvSpPr>
        <p:spPr>
          <a:xfrm>
            <a:off x="25560" y="9686520"/>
            <a:ext cx="18226080" cy="533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914400">
              <a:lnSpc>
                <a:spcPts val="4201"/>
              </a:lnSpc>
            </a:pPr>
            <a:r>
              <a:rPr lang="en-US" sz="3000" b="1" u="none" strike="noStrike">
                <a:solidFill>
                  <a:srgbClr val="A6B5C2"/>
                </a:solidFill>
                <a:effectLst/>
                <a:uFillTx/>
                <a:latin typeface="Space Mono Bold"/>
                <a:ea typeface="Space Mono Bold"/>
              </a:rPr>
              <a:t>Prelucrarea Imaginilor - Proiect, 2025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TextBox 6"/>
          <p:cNvSpPr/>
          <p:nvPr/>
        </p:nvSpPr>
        <p:spPr>
          <a:xfrm>
            <a:off x="0" y="1009800"/>
            <a:ext cx="17775000" cy="10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ts val="8399"/>
              </a:lnSpc>
            </a:pPr>
            <a:r>
              <a:rPr lang="en-US" sz="6000" b="1" u="none" strike="noStrike">
                <a:solidFill>
                  <a:srgbClr val="2E5375"/>
                </a:solidFill>
                <a:effectLst/>
                <a:uFillTx/>
                <a:latin typeface="Space Mono Bold"/>
                <a:ea typeface="Space Mono Bold"/>
              </a:rPr>
              <a:t>3. Evaluarea Preliminară a Soluției</a:t>
            </a:r>
            <a:endParaRPr lang="en-US" sz="6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TextBox 7"/>
          <p:cNvSpPr/>
          <p:nvPr/>
        </p:nvSpPr>
        <p:spPr>
          <a:xfrm>
            <a:off x="571680" y="2242800"/>
            <a:ext cx="17203320" cy="7999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marL="734040" lvl="1" indent="-367200" defTabSz="914400">
              <a:lnSpc>
                <a:spcPts val="4759"/>
              </a:lnSpc>
              <a:buClr>
                <a:srgbClr val="000000"/>
              </a:buClr>
              <a:buFont typeface="Arial"/>
              <a:buChar char="•"/>
            </a:pPr>
            <a:r>
              <a:rPr lang="en-US" sz="3400" b="1" u="none" strike="noStrike">
                <a:solidFill>
                  <a:srgbClr val="000000"/>
                </a:solidFill>
                <a:effectLst/>
                <a:uFillTx/>
                <a:latin typeface="Space Mono Bold"/>
                <a:ea typeface="Space Mono Bold"/>
              </a:rPr>
              <a:t>Metodologia de evaluare: </a:t>
            </a:r>
            <a:r>
              <a:rPr lang="en-US" sz="3400" b="0" u="none" strike="noStrike">
                <a:solidFill>
                  <a:srgbClr val="000000"/>
                </a:solidFill>
                <a:effectLst/>
                <a:uFillTx/>
                <a:latin typeface="Space Mono"/>
                <a:ea typeface="Space Mono"/>
              </a:rPr>
              <a:t>Cum ați testat soluția până acum? Ce metrici ați folosit?</a:t>
            </a:r>
            <a:endParaRPr lang="en-US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34040" lvl="1" indent="-367200" defTabSz="914400">
              <a:lnSpc>
                <a:spcPts val="4759"/>
              </a:lnSpc>
              <a:buClr>
                <a:srgbClr val="000000"/>
              </a:buClr>
              <a:buFont typeface="Arial"/>
              <a:buChar char="•"/>
            </a:pPr>
            <a:r>
              <a:rPr lang="en-US" sz="3400" b="1" u="none" strike="noStrike">
                <a:solidFill>
                  <a:srgbClr val="000000"/>
                </a:solidFill>
                <a:effectLst/>
                <a:uFillTx/>
                <a:latin typeface="Space Mono Bold"/>
                <a:ea typeface="Space Mono Bold"/>
              </a:rPr>
              <a:t>Setul de date: </a:t>
            </a:r>
            <a:r>
              <a:rPr lang="en-US" sz="3400" b="0" u="none" strike="noStrike">
                <a:solidFill>
                  <a:srgbClr val="000000"/>
                </a:solidFill>
                <a:effectLst/>
                <a:uFillTx/>
                <a:latin typeface="Space Mono"/>
                <a:ea typeface="Space Mono"/>
              </a:rPr>
              <a:t>Menționați seturile de date folosite pentru evaluare și de ce le-ați ales.</a:t>
            </a:r>
            <a:endParaRPr lang="en-US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34040" lvl="1" indent="-367200" defTabSz="914400">
              <a:lnSpc>
                <a:spcPts val="4759"/>
              </a:lnSpc>
              <a:buClr>
                <a:srgbClr val="000000"/>
              </a:buClr>
              <a:buFont typeface="Arial"/>
              <a:buChar char="•"/>
            </a:pPr>
            <a:r>
              <a:rPr lang="en-US" sz="3400" b="1" u="none" strike="noStrike">
                <a:solidFill>
                  <a:srgbClr val="000000"/>
                </a:solidFill>
                <a:effectLst/>
                <a:uFillTx/>
                <a:latin typeface="Space Mono Bold"/>
                <a:ea typeface="Space Mono Bold"/>
              </a:rPr>
              <a:t>Exemple de cazuri de test:</a:t>
            </a:r>
            <a:r>
              <a:rPr lang="en-US" sz="3400" b="0" u="none" strike="noStrike">
                <a:solidFill>
                  <a:srgbClr val="000000"/>
                </a:solidFill>
                <a:effectLst/>
                <a:uFillTx/>
                <a:latin typeface="Space Mono"/>
                <a:ea typeface="Space Mono"/>
              </a:rPr>
              <a:t> Prezentați câteva exemple relevante pentru a ilustra procesul de evaluare.</a:t>
            </a:r>
            <a:endParaRPr lang="en-US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4759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4759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4759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392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ts val="4059"/>
              </a:lnSpc>
            </a:pPr>
            <a:r>
              <a:rPr lang="en-US" sz="2900" b="0" i="1" u="none" strike="noStrike">
                <a:solidFill>
                  <a:srgbClr val="FF0000"/>
                </a:solidFill>
                <a:effectLst/>
                <a:uFillTx/>
                <a:latin typeface="Space Mono Italics"/>
                <a:ea typeface="Space Mono Italics"/>
              </a:rPr>
              <a:t>Scopul acestui slide este de a arăta că ați început să evaluați soluția propusă. Specificați metodologia și metricile folosite pentru a măsura performanța soluției, și oferiți detalii despre datele folosite în evaluare.</a:t>
            </a:r>
            <a:endParaRPr lang="en-US" sz="2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ts val="4059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4B586C3-3322-1730-4153-33AA5CA4381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43200" y="0"/>
            <a:ext cx="2783240" cy="87006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Freeform 3"/>
          <p:cNvSpPr/>
          <p:nvPr/>
        </p:nvSpPr>
        <p:spPr>
          <a:xfrm>
            <a:off x="61560" y="0"/>
            <a:ext cx="2255400" cy="960480"/>
          </a:xfrm>
          <a:custGeom>
            <a:avLst/>
            <a:gdLst>
              <a:gd name="textAreaLeft" fmla="*/ 0 w 2255400"/>
              <a:gd name="textAreaRight" fmla="*/ 2255760 w 2255400"/>
              <a:gd name="textAreaTop" fmla="*/ 0 h 960480"/>
              <a:gd name="textAreaBottom" fmla="*/ 960840 h 960480"/>
            </a:gdLst>
            <a:ahLst/>
            <a:cxnLst/>
            <a:rect l="textAreaLeft" t="textAreaTop" r="textAreaRight" b="textAreaBottom"/>
            <a:pathLst>
              <a:path w="2255738" h="960936">
                <a:moveTo>
                  <a:pt x="0" y="0"/>
                </a:moveTo>
                <a:lnTo>
                  <a:pt x="2255738" y="0"/>
                </a:lnTo>
                <a:lnTo>
                  <a:pt x="2255738" y="960936"/>
                </a:lnTo>
                <a:lnTo>
                  <a:pt x="0" y="960936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TextBox 4"/>
          <p:cNvSpPr/>
          <p:nvPr/>
        </p:nvSpPr>
        <p:spPr>
          <a:xfrm>
            <a:off x="0" y="-44280"/>
            <a:ext cx="18287640" cy="1110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914400">
              <a:lnSpc>
                <a:spcPts val="9099"/>
              </a:lnSpc>
            </a:pPr>
            <a:r>
              <a:rPr lang="en-US" sz="6500" b="1" u="none" strike="noStrike">
                <a:solidFill>
                  <a:srgbClr val="1C375A"/>
                </a:solidFill>
                <a:effectLst/>
                <a:uFillTx/>
                <a:latin typeface="Space Mono Bold"/>
                <a:ea typeface="Space Mono Bold"/>
              </a:rPr>
              <a:t>Titlu - Proiect</a:t>
            </a:r>
            <a:endParaRPr lang="en-US" sz="6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TextBox 5"/>
          <p:cNvSpPr/>
          <p:nvPr/>
        </p:nvSpPr>
        <p:spPr>
          <a:xfrm>
            <a:off x="61560" y="9686520"/>
            <a:ext cx="18226080" cy="533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914400">
              <a:lnSpc>
                <a:spcPts val="4201"/>
              </a:lnSpc>
            </a:pPr>
            <a:r>
              <a:rPr lang="en-US" sz="3000" b="1" u="none" strike="noStrike">
                <a:solidFill>
                  <a:srgbClr val="A6B5C2"/>
                </a:solidFill>
                <a:effectLst/>
                <a:uFillTx/>
                <a:latin typeface="Space Mono Bold"/>
                <a:ea typeface="Space Mono Bold"/>
              </a:rPr>
              <a:t>Prelucrarea Imaginilor - Proiect, 2025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TextBox 6"/>
          <p:cNvSpPr/>
          <p:nvPr/>
        </p:nvSpPr>
        <p:spPr>
          <a:xfrm>
            <a:off x="0" y="1009800"/>
            <a:ext cx="17775000" cy="10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ts val="8399"/>
              </a:lnSpc>
            </a:pPr>
            <a:r>
              <a:rPr lang="en-US" sz="6000" b="1" u="none" strike="noStrike">
                <a:solidFill>
                  <a:srgbClr val="2E5375"/>
                </a:solidFill>
                <a:effectLst/>
                <a:uFillTx/>
                <a:latin typeface="Space Mono Bold"/>
                <a:ea typeface="Space Mono Bold"/>
              </a:rPr>
              <a:t>4. Rezultate Preliminare</a:t>
            </a:r>
            <a:endParaRPr lang="en-US" sz="6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TextBox 7"/>
          <p:cNvSpPr/>
          <p:nvPr/>
        </p:nvSpPr>
        <p:spPr>
          <a:xfrm>
            <a:off x="571680" y="2242800"/>
            <a:ext cx="17203320" cy="7949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marL="734040" lvl="1" indent="-367200" defTabSz="914400">
              <a:lnSpc>
                <a:spcPts val="4759"/>
              </a:lnSpc>
              <a:buClr>
                <a:srgbClr val="000000"/>
              </a:buClr>
              <a:buFont typeface="Arial"/>
              <a:buChar char="•"/>
            </a:pPr>
            <a:r>
              <a:rPr lang="en-US" sz="3400" b="1" u="none" strike="noStrike">
                <a:solidFill>
                  <a:srgbClr val="000000"/>
                </a:solidFill>
                <a:effectLst/>
                <a:uFillTx/>
                <a:latin typeface="Space Mono Bold"/>
                <a:ea typeface="Space Mono Bold"/>
              </a:rPr>
              <a:t>Rezultate obținute: </a:t>
            </a:r>
            <a:r>
              <a:rPr lang="en-US" sz="3400" b="0" u="none" strike="noStrike">
                <a:solidFill>
                  <a:srgbClr val="000000"/>
                </a:solidFill>
                <a:effectLst/>
                <a:uFillTx/>
                <a:latin typeface="Space Mono"/>
                <a:ea typeface="Space Mono"/>
              </a:rPr>
              <a:t>Prezentați rezultate cheie din evaluarea preliminară (de exemplu, acuratețea, timpul de execuție etc.).</a:t>
            </a:r>
            <a:endParaRPr lang="en-US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34040" lvl="1" indent="-367200" defTabSz="914400">
              <a:lnSpc>
                <a:spcPts val="4759"/>
              </a:lnSpc>
              <a:buClr>
                <a:srgbClr val="000000"/>
              </a:buClr>
              <a:buFont typeface="Arial"/>
              <a:buChar char="•"/>
            </a:pPr>
            <a:r>
              <a:rPr lang="en-US" sz="3400" b="1" u="none" strike="noStrike">
                <a:solidFill>
                  <a:srgbClr val="000000"/>
                </a:solidFill>
                <a:effectLst/>
                <a:uFillTx/>
                <a:latin typeface="Space Mono Bold"/>
                <a:ea typeface="Space Mono Bold"/>
              </a:rPr>
              <a:t>Vizualizări: </a:t>
            </a:r>
            <a:r>
              <a:rPr lang="en-US" sz="3400" b="0" u="none" strike="noStrike">
                <a:solidFill>
                  <a:srgbClr val="000000"/>
                </a:solidFill>
                <a:effectLst/>
                <a:uFillTx/>
                <a:latin typeface="Space Mono"/>
                <a:ea typeface="Space Mono"/>
              </a:rPr>
              <a:t>Includeți grafice, tabele sau imagini rezultate pentru a ilustra rezultatele.</a:t>
            </a:r>
            <a:endParaRPr lang="en-US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34040" lvl="1" indent="-367200" defTabSz="914400">
              <a:lnSpc>
                <a:spcPts val="4759"/>
              </a:lnSpc>
              <a:buClr>
                <a:srgbClr val="000000"/>
              </a:buClr>
              <a:buFont typeface="Arial"/>
              <a:buChar char="•"/>
            </a:pPr>
            <a:r>
              <a:rPr lang="en-US" sz="3400" b="1" u="none" strike="noStrike">
                <a:solidFill>
                  <a:srgbClr val="000000"/>
                </a:solidFill>
                <a:effectLst/>
                <a:uFillTx/>
                <a:latin typeface="Space Mono Bold"/>
                <a:ea typeface="Space Mono Bold"/>
              </a:rPr>
              <a:t>Interpretarea rezultatelor: </a:t>
            </a:r>
            <a:r>
              <a:rPr lang="en-US" sz="3400" b="0" u="none" strike="noStrike">
                <a:solidFill>
                  <a:srgbClr val="000000"/>
                </a:solidFill>
                <a:effectLst/>
                <a:uFillTx/>
                <a:latin typeface="Space Mono"/>
                <a:ea typeface="Space Mono"/>
              </a:rPr>
              <a:t>Explicați semnificația acestor rezultate și cum se compară cu așteptările inițiale.</a:t>
            </a:r>
            <a:endParaRPr lang="en-US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4759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4759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4759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ts val="4059"/>
              </a:lnSpc>
            </a:pPr>
            <a:r>
              <a:rPr lang="en-US" sz="2900" b="0" u="none" strike="noStrike">
                <a:solidFill>
                  <a:srgbClr val="FF0000"/>
                </a:solidFill>
                <a:effectLst/>
                <a:uFillTx/>
                <a:latin typeface="Space Mono"/>
                <a:ea typeface="Space Mono"/>
              </a:rPr>
              <a:t>Acest slide este destinat prezentării primelor rezultate concrete obținute. Includeți vizualizări (grafice, imagini) care să susțină datele și explicați dacă aceste rezultate sunt promițătoare sau dacă indică necesitatea unor ajustări.</a:t>
            </a:r>
            <a:endParaRPr lang="en-US" sz="2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ts val="4059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2866495-3DEB-B6E0-4994-67C5C0584A8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43200" y="0"/>
            <a:ext cx="2783240" cy="87006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Freeform 3"/>
          <p:cNvSpPr/>
          <p:nvPr/>
        </p:nvSpPr>
        <p:spPr>
          <a:xfrm>
            <a:off x="61560" y="0"/>
            <a:ext cx="2255400" cy="960480"/>
          </a:xfrm>
          <a:custGeom>
            <a:avLst/>
            <a:gdLst>
              <a:gd name="textAreaLeft" fmla="*/ 0 w 2255400"/>
              <a:gd name="textAreaRight" fmla="*/ 2255760 w 2255400"/>
              <a:gd name="textAreaTop" fmla="*/ 0 h 960480"/>
              <a:gd name="textAreaBottom" fmla="*/ 960840 h 960480"/>
            </a:gdLst>
            <a:ahLst/>
            <a:cxnLst/>
            <a:rect l="textAreaLeft" t="textAreaTop" r="textAreaRight" b="textAreaBottom"/>
            <a:pathLst>
              <a:path w="2255738" h="960936">
                <a:moveTo>
                  <a:pt x="0" y="0"/>
                </a:moveTo>
                <a:lnTo>
                  <a:pt x="2255738" y="0"/>
                </a:lnTo>
                <a:lnTo>
                  <a:pt x="2255738" y="960936"/>
                </a:lnTo>
                <a:lnTo>
                  <a:pt x="0" y="960936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TextBox 4"/>
          <p:cNvSpPr/>
          <p:nvPr/>
        </p:nvSpPr>
        <p:spPr>
          <a:xfrm>
            <a:off x="0" y="-44280"/>
            <a:ext cx="18287640" cy="1110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914400">
              <a:lnSpc>
                <a:spcPts val="9099"/>
              </a:lnSpc>
            </a:pPr>
            <a:r>
              <a:rPr lang="en-US" sz="6500" b="1" u="none" strike="noStrike">
                <a:solidFill>
                  <a:srgbClr val="1C375A"/>
                </a:solidFill>
                <a:effectLst/>
                <a:uFillTx/>
                <a:latin typeface="Space Mono Bold"/>
                <a:ea typeface="Space Mono Bold"/>
              </a:rPr>
              <a:t>Titlu - Proiect</a:t>
            </a:r>
            <a:endParaRPr lang="en-US" sz="6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TextBox 5"/>
          <p:cNvSpPr/>
          <p:nvPr/>
        </p:nvSpPr>
        <p:spPr>
          <a:xfrm>
            <a:off x="61560" y="9686520"/>
            <a:ext cx="18226080" cy="533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914400">
              <a:lnSpc>
                <a:spcPts val="4201"/>
              </a:lnSpc>
            </a:pPr>
            <a:r>
              <a:rPr lang="en-US" sz="3000" b="1" u="none" strike="noStrike">
                <a:solidFill>
                  <a:srgbClr val="A6B5C2"/>
                </a:solidFill>
                <a:effectLst/>
                <a:uFillTx/>
                <a:latin typeface="Space Mono Bold"/>
                <a:ea typeface="Space Mono Bold"/>
              </a:rPr>
              <a:t>Prelucrarea Imaginilor - Proiect, 2025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TextBox 6"/>
          <p:cNvSpPr/>
          <p:nvPr/>
        </p:nvSpPr>
        <p:spPr>
          <a:xfrm>
            <a:off x="0" y="1009800"/>
            <a:ext cx="17775000" cy="10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ts val="8399"/>
              </a:lnSpc>
            </a:pPr>
            <a:r>
              <a:rPr lang="en-US" sz="6000" b="1" u="none" strike="noStrike">
                <a:solidFill>
                  <a:srgbClr val="2E5375"/>
                </a:solidFill>
                <a:effectLst/>
                <a:uFillTx/>
                <a:latin typeface="Space Mono Bold"/>
                <a:ea typeface="Space Mono Bold"/>
              </a:rPr>
              <a:t>5. Concluzii Preliminare</a:t>
            </a:r>
            <a:endParaRPr lang="en-US" sz="6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TextBox 7"/>
          <p:cNvSpPr/>
          <p:nvPr/>
        </p:nvSpPr>
        <p:spPr>
          <a:xfrm>
            <a:off x="571680" y="2242800"/>
            <a:ext cx="17203320" cy="7434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marL="734040" lvl="1" indent="-367200" defTabSz="914400">
              <a:lnSpc>
                <a:spcPts val="4759"/>
              </a:lnSpc>
              <a:buClr>
                <a:srgbClr val="000000"/>
              </a:buClr>
              <a:buFont typeface="Arial"/>
              <a:buChar char="•"/>
            </a:pPr>
            <a:r>
              <a:rPr lang="en-US" sz="3400" b="1" u="none" strike="noStrike">
                <a:solidFill>
                  <a:srgbClr val="000000"/>
                </a:solidFill>
                <a:effectLst/>
                <a:uFillTx/>
                <a:latin typeface="Space Mono Bold"/>
                <a:ea typeface="Space Mono Bold"/>
              </a:rPr>
              <a:t>Rezumatul progresului: </a:t>
            </a:r>
            <a:r>
              <a:rPr lang="en-US" sz="3400" b="0" u="none" strike="noStrike">
                <a:solidFill>
                  <a:srgbClr val="000000"/>
                </a:solidFill>
                <a:effectLst/>
                <a:uFillTx/>
                <a:latin typeface="Space Mono"/>
                <a:ea typeface="Space Mono"/>
              </a:rPr>
              <a:t>Sumarizați cele mai importante lucruri realizate până acum.</a:t>
            </a:r>
            <a:endParaRPr lang="en-US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34040" lvl="1" indent="-367200" defTabSz="914400">
              <a:lnSpc>
                <a:spcPts val="4759"/>
              </a:lnSpc>
              <a:buClr>
                <a:srgbClr val="000000"/>
              </a:buClr>
              <a:buFont typeface="Arial"/>
              <a:buChar char="•"/>
            </a:pPr>
            <a:r>
              <a:rPr lang="en-US" sz="3400" b="1" u="none" strike="noStrike">
                <a:solidFill>
                  <a:srgbClr val="000000"/>
                </a:solidFill>
                <a:effectLst/>
                <a:uFillTx/>
                <a:latin typeface="Space Mono Bold"/>
                <a:ea typeface="Space Mono Bold"/>
              </a:rPr>
              <a:t>Limitările soluției actuale: </a:t>
            </a:r>
            <a:r>
              <a:rPr lang="en-US" sz="3400" b="0" u="none" strike="noStrike">
                <a:solidFill>
                  <a:srgbClr val="000000"/>
                </a:solidFill>
                <a:effectLst/>
                <a:uFillTx/>
                <a:latin typeface="Space Mono"/>
                <a:ea typeface="Space Mono"/>
              </a:rPr>
              <a:t>Menționați limitările sau provocările întâlnite.</a:t>
            </a:r>
            <a:endParaRPr lang="en-US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34040" lvl="1" indent="-367200" defTabSz="914400">
              <a:lnSpc>
                <a:spcPts val="4759"/>
              </a:lnSpc>
              <a:buClr>
                <a:srgbClr val="000000"/>
              </a:buClr>
              <a:buFont typeface="Arial"/>
              <a:buChar char="•"/>
            </a:pPr>
            <a:r>
              <a:rPr lang="en-US" sz="3400" b="1" u="none" strike="noStrike">
                <a:solidFill>
                  <a:srgbClr val="000000"/>
                </a:solidFill>
                <a:effectLst/>
                <a:uFillTx/>
                <a:latin typeface="Space Mono Bold"/>
                <a:ea typeface="Space Mono Bold"/>
              </a:rPr>
              <a:t>Potențiale îmbunătățiri: </a:t>
            </a:r>
            <a:r>
              <a:rPr lang="en-US" sz="3400" b="0" u="none" strike="noStrike">
                <a:solidFill>
                  <a:srgbClr val="000000"/>
                </a:solidFill>
                <a:effectLst/>
                <a:uFillTx/>
                <a:latin typeface="Space Mono"/>
                <a:ea typeface="Space Mono"/>
              </a:rPr>
              <a:t>Scurtă descriere a modurilor în care soluția ar putea fi îmbunătățită.</a:t>
            </a:r>
            <a:endParaRPr lang="en-US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4759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4759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4759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ts val="4059"/>
              </a:lnSpc>
            </a:pPr>
            <a:r>
              <a:rPr lang="en-US" sz="2900" b="0" u="none" strike="noStrike">
                <a:solidFill>
                  <a:srgbClr val="FF0000"/>
                </a:solidFill>
                <a:effectLst/>
                <a:uFillTx/>
                <a:latin typeface="Space Mono"/>
                <a:ea typeface="Space Mono"/>
              </a:rPr>
              <a:t>Aici, trebuie să sintetizați ceea ce ați realizat și să reflectați asupra limitelor soluției actuale. Această secțiune vă ajută la înțelegerea progresului și a zonelor care necesită îmbunătățiri.</a:t>
            </a:r>
            <a:endParaRPr lang="en-US" sz="2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ts val="4059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9517E58-C7EC-9E70-7916-779D59E693E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43200" y="0"/>
            <a:ext cx="2783240" cy="87006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Freeform 3"/>
          <p:cNvSpPr/>
          <p:nvPr/>
        </p:nvSpPr>
        <p:spPr>
          <a:xfrm>
            <a:off x="61560" y="0"/>
            <a:ext cx="2255400" cy="960480"/>
          </a:xfrm>
          <a:custGeom>
            <a:avLst/>
            <a:gdLst>
              <a:gd name="textAreaLeft" fmla="*/ 0 w 2255400"/>
              <a:gd name="textAreaRight" fmla="*/ 2255760 w 2255400"/>
              <a:gd name="textAreaTop" fmla="*/ 0 h 960480"/>
              <a:gd name="textAreaBottom" fmla="*/ 960840 h 960480"/>
            </a:gdLst>
            <a:ahLst/>
            <a:cxnLst/>
            <a:rect l="textAreaLeft" t="textAreaTop" r="textAreaRight" b="textAreaBottom"/>
            <a:pathLst>
              <a:path w="2255738" h="960936">
                <a:moveTo>
                  <a:pt x="0" y="0"/>
                </a:moveTo>
                <a:lnTo>
                  <a:pt x="2255738" y="0"/>
                </a:lnTo>
                <a:lnTo>
                  <a:pt x="2255738" y="960936"/>
                </a:lnTo>
                <a:lnTo>
                  <a:pt x="0" y="960936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TextBox 4"/>
          <p:cNvSpPr/>
          <p:nvPr/>
        </p:nvSpPr>
        <p:spPr>
          <a:xfrm>
            <a:off x="0" y="-44280"/>
            <a:ext cx="18287640" cy="1110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914400">
              <a:lnSpc>
                <a:spcPts val="9099"/>
              </a:lnSpc>
            </a:pPr>
            <a:r>
              <a:rPr lang="en-US" sz="6500" b="1" u="none" strike="noStrike">
                <a:solidFill>
                  <a:srgbClr val="1C375A"/>
                </a:solidFill>
                <a:effectLst/>
                <a:uFillTx/>
                <a:latin typeface="Space Mono Bold"/>
                <a:ea typeface="Space Mono Bold"/>
              </a:rPr>
              <a:t>Titlu - Proiect</a:t>
            </a:r>
            <a:endParaRPr lang="en-US" sz="6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TextBox 5"/>
          <p:cNvSpPr/>
          <p:nvPr/>
        </p:nvSpPr>
        <p:spPr>
          <a:xfrm>
            <a:off x="61560" y="9686520"/>
            <a:ext cx="18226080" cy="533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914400">
              <a:lnSpc>
                <a:spcPts val="4201"/>
              </a:lnSpc>
            </a:pPr>
            <a:r>
              <a:rPr lang="en-US" sz="3000" b="1" u="none" strike="noStrike">
                <a:solidFill>
                  <a:srgbClr val="A6B5C2"/>
                </a:solidFill>
                <a:effectLst/>
                <a:uFillTx/>
                <a:latin typeface="Space Mono Bold"/>
                <a:ea typeface="Space Mono Bold"/>
              </a:rPr>
              <a:t>Prelucrarea Imaginilor - Proiect, 2025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Box 6"/>
          <p:cNvSpPr/>
          <p:nvPr/>
        </p:nvSpPr>
        <p:spPr>
          <a:xfrm>
            <a:off x="0" y="1009800"/>
            <a:ext cx="17775000" cy="10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ts val="8399"/>
              </a:lnSpc>
            </a:pPr>
            <a:r>
              <a:rPr lang="en-US" sz="6000" b="1" u="none" strike="noStrike">
                <a:solidFill>
                  <a:srgbClr val="2E5375"/>
                </a:solidFill>
                <a:effectLst/>
                <a:uFillTx/>
                <a:latin typeface="Space Mono Bold"/>
                <a:ea typeface="Space Mono Bold"/>
              </a:rPr>
              <a:t>6. Direcții Viitoare</a:t>
            </a:r>
            <a:endParaRPr lang="en-US" sz="6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Box 7"/>
          <p:cNvSpPr/>
          <p:nvPr/>
        </p:nvSpPr>
        <p:spPr>
          <a:xfrm>
            <a:off x="571680" y="2242800"/>
            <a:ext cx="17203320" cy="7349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marL="734040" lvl="1" indent="-367200" defTabSz="914400">
              <a:lnSpc>
                <a:spcPts val="4759"/>
              </a:lnSpc>
              <a:buClr>
                <a:srgbClr val="000000"/>
              </a:buClr>
              <a:buFont typeface="Arial"/>
              <a:buChar char="•"/>
            </a:pPr>
            <a:r>
              <a:rPr lang="en-US" sz="3400" b="1" u="none" strike="noStrike">
                <a:solidFill>
                  <a:srgbClr val="000000"/>
                </a:solidFill>
                <a:effectLst/>
                <a:uFillTx/>
                <a:latin typeface="Space Mono Bold"/>
                <a:ea typeface="Space Mono Bold"/>
              </a:rPr>
              <a:t>Pași următori: </a:t>
            </a:r>
            <a:r>
              <a:rPr lang="en-US" sz="3400" b="0" u="none" strike="noStrike">
                <a:solidFill>
                  <a:srgbClr val="000000"/>
                </a:solidFill>
                <a:effectLst/>
                <a:uFillTx/>
                <a:latin typeface="Space Mono"/>
                <a:ea typeface="Space Mono"/>
              </a:rPr>
              <a:t>Enumerați pașii concreți pe care îi veți urma până la raportul final.</a:t>
            </a:r>
            <a:endParaRPr lang="en-US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34040" lvl="1" indent="-367200" defTabSz="914400">
              <a:lnSpc>
                <a:spcPts val="4759"/>
              </a:lnSpc>
              <a:buClr>
                <a:srgbClr val="000000"/>
              </a:buClr>
              <a:buFont typeface="Arial"/>
              <a:buChar char="•"/>
            </a:pPr>
            <a:r>
              <a:rPr lang="en-US" sz="3400" b="1" u="none" strike="noStrike">
                <a:solidFill>
                  <a:srgbClr val="000000"/>
                </a:solidFill>
                <a:effectLst/>
                <a:uFillTx/>
                <a:latin typeface="Space Mono Bold"/>
                <a:ea typeface="Space Mono Bold"/>
              </a:rPr>
              <a:t>Plan de implementare: </a:t>
            </a:r>
            <a:r>
              <a:rPr lang="en-US" sz="3400" b="0" u="none" strike="noStrike">
                <a:solidFill>
                  <a:srgbClr val="000000"/>
                </a:solidFill>
                <a:effectLst/>
                <a:uFillTx/>
                <a:latin typeface="Space Mono"/>
                <a:ea typeface="Space Mono"/>
              </a:rPr>
              <a:t>Scurtă descriere a modului în care veți implementa îmbunătățirile identificate.</a:t>
            </a:r>
            <a:endParaRPr lang="en-US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34040" lvl="1" indent="-367200" defTabSz="914400">
              <a:lnSpc>
                <a:spcPts val="4759"/>
              </a:lnSpc>
              <a:buClr>
                <a:srgbClr val="000000"/>
              </a:buClr>
              <a:buFont typeface="Arial"/>
              <a:buChar char="•"/>
            </a:pPr>
            <a:r>
              <a:rPr lang="en-US" sz="3400" b="1" u="none" strike="noStrike">
                <a:solidFill>
                  <a:srgbClr val="000000"/>
                </a:solidFill>
                <a:effectLst/>
                <a:uFillTx/>
                <a:latin typeface="Space Mono Bold"/>
                <a:ea typeface="Space Mono Bold"/>
              </a:rPr>
              <a:t>Obiectivele finale: </a:t>
            </a:r>
            <a:r>
              <a:rPr lang="en-US" sz="3400" b="0" u="none" strike="noStrike">
                <a:solidFill>
                  <a:srgbClr val="000000"/>
                </a:solidFill>
                <a:effectLst/>
                <a:uFillTx/>
                <a:latin typeface="Space Mono"/>
                <a:ea typeface="Space Mono"/>
              </a:rPr>
              <a:t>Explicați ce ați dori să obțineți până la finalul proiectului.</a:t>
            </a:r>
            <a:endParaRPr lang="en-US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4759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4759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ts val="4059"/>
              </a:lnSpc>
            </a:pPr>
            <a:r>
              <a:rPr lang="en-US" sz="2900" b="0" u="none" strike="noStrike">
                <a:solidFill>
                  <a:srgbClr val="FF0000"/>
                </a:solidFill>
                <a:effectLst/>
                <a:uFillTx/>
                <a:latin typeface="Space Mono"/>
                <a:ea typeface="Space Mono"/>
              </a:rPr>
              <a:t>Acest ultim slide este destinat planificării următoarelor etape și stabilirii unor obiective clare pentru finalizarea proiectului. Acest aspect ajută la structurarea taskurilor rămase și oferă o imagine de ansamblu asupra direcției în care se îndreaptă proiectul.</a:t>
            </a:r>
            <a:endParaRPr lang="en-US" sz="2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ts val="4059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75C6C77-D08D-1D6C-A211-4E6F59B107F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43200" y="0"/>
            <a:ext cx="2783240" cy="87006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</TotalTime>
  <Words>580</Words>
  <Application>Microsoft Office PowerPoint</Application>
  <PresentationFormat>Custom</PresentationFormat>
  <Paragraphs>63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6" baseType="lpstr">
      <vt:lpstr>Space Mono</vt:lpstr>
      <vt:lpstr>Times New Roman</vt:lpstr>
      <vt:lpstr>Calibri</vt:lpstr>
      <vt:lpstr>Wingdings</vt:lpstr>
      <vt:lpstr>Arial</vt:lpstr>
      <vt:lpstr>Symbol</vt:lpstr>
      <vt:lpstr>Space Mono Bold</vt:lpstr>
      <vt:lpstr>Space Mono Italics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Template_prezentare_s4</dc:title>
  <dc:subject/>
  <dc:creator/>
  <dc:description/>
  <cp:lastModifiedBy>Teodor Aparaschivei</cp:lastModifiedBy>
  <cp:revision>5</cp:revision>
  <dcterms:created xsi:type="dcterms:W3CDTF">2006-08-16T00:00:00Z</dcterms:created>
  <dcterms:modified xsi:type="dcterms:W3CDTF">2025-11-19T08:37:58Z</dcterms:modified>
  <dc:identifier>DAGVHg5y5Wo</dc:identifier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